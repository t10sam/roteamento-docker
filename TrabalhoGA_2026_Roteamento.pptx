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868912" y="0"/>
            <a:ext cx="320040" cy="68580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1868912" cy="22860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Roteamento Dinâmico com Containers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B8DD9"/>
                </a:solidFill>
              </a:rPr>
              <a:t>Comparativo entre RIP, OSPF e Algoritmo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B8DD9"/>
                </a:solidFill>
              </a:rPr>
              <a:t>TrabalhoI_2026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CC"/>
                </a:solidFill>
              </a:rPr>
              <a:t>Disciplina de Redes de Computadores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Objetivo do Trabalho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8580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61288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4E"/>
                </a:solidFill>
              </a:rPr>
              <a:t>Problema e Proposta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Comparar protocolos de roteamento sem infraestrutura física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Virtualizar roteadores reais usando containers Docker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Implementar RIP, OSPF e um algoritmo próprio no mesmo ambiente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Analisar as decisões de caminho de cada abordagem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051560"/>
            <a:ext cx="438912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39" y="116128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4E"/>
                </a:solidFill>
              </a:rPr>
              <a:t>Ferramentas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Docker Desktop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FRRouting (FRR) — daemon de roteamento open-source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Python 3 — algoritmo próprio e geração de configs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Shell script (aplicar.sh) — orquestração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E4B9E"/>
                </a:solidFill>
              </a:rPr>
              <a:t>Cada container Docker representa um roteador físico com permissões de rede reais (NET_ADMIN, ip_forward), executando o mesmo stack de roteamento usado em produção.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Topologia da Rede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217920" cy="256032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1143000"/>
            <a:ext cx="603504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FF3E"/>
                </a:solidFill>
                <a:latin typeface="Courier New"/>
              </a:rPr>
              <a:t>          R1 ──[192.168.5.0/29]── R2
         / │                       │ \
  [.9]  /  └──[192.100.1.0/29]─R3 │  \ [192.100.2.0/29]
       /            │              │   \
      R5    [192.168.7.0/29]  [.6] │    R5
       \            │              │   /
  [.8]  \          R4─────[.8]────R5  /
         \                           /
          └──[192.168.9.0/29]───────┘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0" y="1051560"/>
          <a:ext cx="5029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Enlace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Rede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– 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192.168.5.0/29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R2 – R3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192.168.6.0/29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R3 – 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192.168.7.0/29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R4 – R5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192.168.8.0/29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–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192.168.9.0/29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– R3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192.100.1.0/29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Redundância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– 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192.100.2.0/29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Redundância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43662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2E4B9E"/>
                </a:solidFill>
              </a:rPr>
              <a:t>Os</a:t>
            </a:r>
            <a:r>
              <a:rPr sz="1300" b="0" i="1" dirty="0">
                <a:solidFill>
                  <a:srgbClr val="2E4B9E"/>
                </a:solidFill>
              </a:rPr>
              <a:t> </a:t>
            </a:r>
            <a:r>
              <a:rPr sz="1300" b="0" i="1" dirty="0" err="1">
                <a:solidFill>
                  <a:srgbClr val="2E4B9E"/>
                </a:solidFill>
              </a:rPr>
              <a:t>dois</a:t>
            </a:r>
            <a:r>
              <a:rPr sz="1300" b="0" i="1" dirty="0">
                <a:solidFill>
                  <a:srgbClr val="2E4B9E"/>
                </a:solidFill>
              </a:rPr>
              <a:t> links de </a:t>
            </a:r>
            <a:r>
              <a:rPr sz="1300" b="0" i="1" dirty="0" err="1">
                <a:solidFill>
                  <a:srgbClr val="2E4B9E"/>
                </a:solidFill>
              </a:rPr>
              <a:t>redundância</a:t>
            </a:r>
            <a:r>
              <a:rPr sz="1300" b="0" i="1" dirty="0">
                <a:solidFill>
                  <a:srgbClr val="2E4B9E"/>
                </a:solidFill>
              </a:rPr>
              <a:t> (R1-R3 e R5-R2) </a:t>
            </a:r>
            <a:r>
              <a:rPr sz="1300" b="0" i="1" dirty="0" err="1">
                <a:solidFill>
                  <a:srgbClr val="2E4B9E"/>
                </a:solidFill>
              </a:rPr>
              <a:t>são</a:t>
            </a:r>
            <a:r>
              <a:rPr sz="1300" b="0" i="1" dirty="0">
                <a:solidFill>
                  <a:srgbClr val="2E4B9E"/>
                </a:solidFill>
              </a:rPr>
              <a:t> o </a:t>
            </a:r>
            <a:r>
              <a:rPr sz="1300" b="0" i="1" dirty="0" err="1">
                <a:solidFill>
                  <a:srgbClr val="2E4B9E"/>
                </a:solidFill>
              </a:rPr>
              <a:t>elemento</a:t>
            </a:r>
            <a:r>
              <a:rPr sz="1300" b="0" i="1" dirty="0">
                <a:solidFill>
                  <a:srgbClr val="2E4B9E"/>
                </a:solidFill>
              </a:rPr>
              <a:t> </a:t>
            </a:r>
            <a:r>
              <a:rPr sz="1300" b="0" i="1" dirty="0" err="1">
                <a:solidFill>
                  <a:srgbClr val="2E4B9E"/>
                </a:solidFill>
              </a:rPr>
              <a:t>que</a:t>
            </a:r>
            <a:r>
              <a:rPr sz="1300" b="0" i="1" dirty="0">
                <a:solidFill>
                  <a:srgbClr val="2E4B9E"/>
                </a:solidFill>
              </a:rPr>
              <a:t> </a:t>
            </a:r>
            <a:r>
              <a:rPr sz="1300" b="0" i="1" dirty="0" err="1">
                <a:solidFill>
                  <a:srgbClr val="2E4B9E"/>
                </a:solidFill>
              </a:rPr>
              <a:t>diferencia</a:t>
            </a:r>
            <a:r>
              <a:rPr sz="1300" b="0" i="1" dirty="0">
                <a:solidFill>
                  <a:srgbClr val="2E4B9E"/>
                </a:solidFill>
              </a:rPr>
              <a:t> as </a:t>
            </a:r>
            <a:r>
              <a:rPr sz="1300" b="0" i="1" dirty="0" err="1">
                <a:solidFill>
                  <a:srgbClr val="2E4B9E"/>
                </a:solidFill>
              </a:rPr>
              <a:t>decisões</a:t>
            </a:r>
            <a:r>
              <a:rPr sz="1300" b="0" i="1" dirty="0">
                <a:solidFill>
                  <a:srgbClr val="2E4B9E"/>
                </a:solidFill>
              </a:rPr>
              <a:t> de </a:t>
            </a:r>
            <a:r>
              <a:rPr sz="1300" b="0" i="1" dirty="0" err="1">
                <a:solidFill>
                  <a:srgbClr val="2E4B9E"/>
                </a:solidFill>
              </a:rPr>
              <a:t>roteamento</a:t>
            </a:r>
            <a:r>
              <a:rPr sz="1300" b="0" i="1" dirty="0">
                <a:solidFill>
                  <a:srgbClr val="2E4B9E"/>
                </a:solidFill>
              </a:rPr>
              <a:t> entre </a:t>
            </a:r>
            <a:r>
              <a:rPr sz="1300" b="0" i="1" dirty="0" err="1">
                <a:solidFill>
                  <a:srgbClr val="2E4B9E"/>
                </a:solidFill>
              </a:rPr>
              <a:t>os</a:t>
            </a:r>
            <a:r>
              <a:rPr sz="1300" b="0" i="1" dirty="0">
                <a:solidFill>
                  <a:srgbClr val="2E4B9E"/>
                </a:solidFill>
              </a:rPr>
              <a:t> </a:t>
            </a:r>
            <a:r>
              <a:rPr sz="1300" b="0" i="1" dirty="0" err="1">
                <a:solidFill>
                  <a:srgbClr val="2E4B9E"/>
                </a:solidFill>
              </a:rPr>
              <a:t>três</a:t>
            </a:r>
            <a:r>
              <a:rPr sz="1300" b="0" i="1" dirty="0">
                <a:solidFill>
                  <a:srgbClr val="2E4B9E"/>
                </a:solidFill>
              </a:rPr>
              <a:t> </a:t>
            </a:r>
            <a:r>
              <a:rPr sz="1300" b="0" i="1" dirty="0" err="1">
                <a:solidFill>
                  <a:srgbClr val="2E4B9E"/>
                </a:solidFill>
              </a:rPr>
              <a:t>protocolos</a:t>
            </a:r>
            <a:r>
              <a:rPr sz="1300" b="0" i="1" dirty="0">
                <a:solidFill>
                  <a:srgbClr val="2E4B9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Infraestrutura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Como os containers simulam roteadores reais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097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5156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Imagem Debian + FRR + Python 3 + iproute2 + ping + traceroute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4592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691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docker-compose.yaml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164592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4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5 serviços com IPs fixos, permissões NET_ADMIN e ip_forward=1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aplicar.sh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24028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044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Copia configs e reinicia FRR (rip/ospf) ou inicia daemon Python (proprio)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3464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configs/rip/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83464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2044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frr.conf com router rip para cada roteador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474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configs/ospf/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42900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frr.conf com router ospf e router-id único por roteador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2336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0690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algoritmo_proprio.py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02336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2044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Agente Link-State: HELLO, LSA, Dijkstra — copiado para /opt/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1772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4663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main.py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461772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2044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Orquestrador de sockets UDP: dispara threads e liga o AgenteLinkState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074920"/>
            <a:ext cx="11430000" cy="868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51663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./aplicar.sh rip       # aplica RIP em todos os roteadores
./aplicar.sh ospf      # aplica OSPF
./aplicar.sh proprio   # para FRR, copia daemon Python e inicia em cada container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RIP — Routing Information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Métrica: número de saltos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530352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161288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Como funciona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Cada roteador anuncia suas redes aos vizinhos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Métrica = número de saltos (máx. 15)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Atualização periódica a cada 30 segundos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DA = 120  |  Daemon: ripd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051560"/>
            <a:ext cx="5943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53328" y="1143000"/>
            <a:ext cx="576072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router rip
 network 192.168.5.0/29
 network 192.168.9.0/29
 network 192.100.1.0/29
 redistribute connected
 version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6858000" cy="1828800"/>
          </a:xfrm>
          <a:prstGeom prst="rect">
            <a:avLst/>
          </a:prstGeom>
          <a:solidFill>
            <a:srgbClr val="FDFDF0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Tabela de rotas — R1 (output real)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192.168.6.0/29 [120/2] via 192.168.5.3   ← foi por R2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192.168.7.0/29 [120/2] via 192.100.1.3   ← foi por R3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192.168.8.0/29 [120/2] via 192.168.9.3   ← foi por R5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R4→R1-R2:  [120/3]  ← 3 saltos  (maior distância)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200400"/>
            <a:ext cx="43891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39" y="3310128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Convergência: 30–90 segundos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Links rápidos ignorados se não reduzem saltos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Simples de configurar e entender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OSPF — Open Shortest Path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Métrica: custo por interface (padrão = 10)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530352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161288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Como funciona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Cada roteador constrói mapa completo da rede (LSA)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Roda Dijkstra localmente para calcular melhores rotas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Convergência rápida (~5-15s) via troca de LSAs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DA = 110  |  Daemon: ospfd  |  Router-ID único por roteador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051560"/>
            <a:ext cx="5943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53328" y="1143000"/>
            <a:ext cx="576072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router ospf
 ospf router-id 1.1.1.1
 network 192.100.1.0/29 area 0
 network 192.168.5.0/29 area 0
 network 192.168.9.0/29 area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6858000" cy="1828800"/>
          </a:xfrm>
          <a:prstGeom prst="rect">
            <a:avLst/>
          </a:prstGeom>
          <a:solidFill>
            <a:srgbClr val="FDFDF0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Tabela de rotas — R5 (output real)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O&gt;* 192.100.1.0/29 [110/20] via 192.168.9.2  ← remota, custo 20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O&gt;* 192.168.5.0/29 [110/20] via 192.168.9.2  ← 2 hops × 10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   192.100.2.0/29 [110/10] is directly connected  ← perde para C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C&gt;* 192.100.2.0/29 is directly connected  ← C (DA=0) ganha de O (DA=110)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200400"/>
            <a:ext cx="43891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39" y="3310128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Com custo padrão = comportamento similar ao RIP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Potencial real: customizar custo por interface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Rotas diretas aparecem duplicadas: O + C&gt;*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Algoritmo Próprio — Daemon Link-State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 híbrida: (saltos × 10) + latência medida em tempo real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11430000" cy="6858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Custo por enlace = 10 + latência_ms  (medida por ping entre vizinhos)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74519"/>
            <a:ext cx="530352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984247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Fluxo do daemon (por container)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1. HELLO (broadcast UDP) — descobre vizinhos diretos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2. Ping — mede latência real a cada vizinho (a cada 10 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3. LSA (flooding UDP) — inunda LSDB para toda a rede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4. Dijkstra local — calcula melhor caminho em cada roteador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5. ip route replace — instala rotas no kernel Linux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874519"/>
            <a:ext cx="594360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1984247"/>
            <a:ext cx="5669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FRR é parado; o daemon Python assume o kernel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Cada container roda main.py com threads independentes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Reage a mudanças de latência (re-origina LSA se Δ &gt; 2 ms)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Timeout de vizinho: 30 s — detecta falha de enlace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Timeout de LSA: 60 s — remove info desatualizada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Portas UDP: 5006 (HELLO) e 5007 (LSA)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00600"/>
            <a:ext cx="11430000" cy="82296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# kernel route instalada pelo daemon (ip route show):
192.168.6.0/29 via 192.100.1.3    ← R1 foi por R3 (3 ms, custo 13)
192.168.5.0/29 via 192.100.2.3    ← R5 foi por R2 (3 ms, custo 13)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Comparativo — Decisões de Rota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515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 → Destino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Algoritmo Próprio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→ rede R2-R3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  (10ms)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  (custo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R3  (3ms)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R3 → rede R1-R2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R1  (3ms)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→ rede R1-R2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R1  (9ms)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R1  (custo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R2  (3ms)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R4 → rede R1-R2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[3 saltos]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[custo 30]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[custo 25]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063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Uso dos enlaces de redundância (R1-R3 e R5-R2):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429000"/>
          <a:ext cx="114300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Protocolo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Usa links rápidos?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Critério de decisão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Parcialmente — por coincidência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Só quando reduz o nº de saltos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Parcialmente — custo igual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Custo padrão 10 = igual a todos os enlaces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Próprio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✔ Sistematicamente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Latência menor = custo menor = rota preferida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Comparativo — Características Técnicas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5156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Critério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Algoritmo Próprio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Código na tabela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— (kernel, ip route)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Distância administrativa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120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— (bypass FRR)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Métrica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Saltos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Custo (padrão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(saltos×10) + latência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Convergência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30–90 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~5–30 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~20–30 s (HELLO→LSA→Dijkstra)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Reage a falhas?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(lento)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(rápido)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— timeout vizinho 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Troca mensagens?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(HELLO UDP + LSA flooding)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Complexidade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Baixa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Média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Python daemon (sockets UDP)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Duplica rotas diretas?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(O + C)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Não — kernel puro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B1D36-5FC7-1685-C36D-89FD573DF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933D8B-37F1-A105-E91C-E857FC8ED614}"/>
              </a:ext>
            </a:extLst>
          </p:cNvPr>
          <p:cNvSpPr/>
          <p:nvPr/>
        </p:nvSpPr>
        <p:spPr>
          <a:xfrm>
            <a:off x="0" y="13716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0854E4-96C4-3F69-DDF9-2882F0D1678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96C85D-F28E-E9A0-43D2-331460A0BD72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770445-E68E-824C-CC98-5D388CA3ECD0}"/>
              </a:ext>
            </a:extLst>
          </p:cNvPr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E5A9F4-4277-672B-E69E-1C2B0F5F7596}"/>
              </a:ext>
            </a:extLst>
          </p:cNvPr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35888-36B2-9FF6-507B-486405E2E357}"/>
              </a:ext>
            </a:extLst>
          </p:cNvPr>
          <p:cNvSpPr txBox="1"/>
          <p:nvPr/>
        </p:nvSpPr>
        <p:spPr>
          <a:xfrm>
            <a:off x="457200" y="137160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Comparativo</a:t>
            </a:r>
            <a:r>
              <a:rPr sz="2600" b="1" i="0" dirty="0">
                <a:solidFill>
                  <a:srgbClr val="1A234E"/>
                </a:solidFill>
              </a:rPr>
              <a:t> — </a:t>
            </a:r>
            <a:r>
              <a:rPr lang="pt-BR" sz="2600" b="1" i="0" dirty="0">
                <a:solidFill>
                  <a:srgbClr val="1A234E"/>
                </a:solidFill>
              </a:rPr>
              <a:t>Gráficos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EAD99-BDCF-EA57-9B59-18DEEA023D09}"/>
              </a:ext>
            </a:extLst>
          </p:cNvPr>
          <p:cNvSpPr/>
          <p:nvPr/>
        </p:nvSpPr>
        <p:spPr>
          <a:xfrm>
            <a:off x="457200" y="577025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BE8F81-BFEC-2AB3-83D2-E459B16AE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12" y="733626"/>
            <a:ext cx="8740383" cy="565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3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09728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" y="109728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5361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Simples e funcional, mas cego à qualidade dos enlaces. Convergência lenta. Adequado para redes pequenas e homogêneas.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109728" cy="1005840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219456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OSPF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33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Mais robusto e de convergência rápida. Com custos padrão se comporta como RIP — seu potencial real exige customização de custo por interface.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109728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29184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337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Algoritmo Próprio — Daemon Link-State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307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Daemon Python vivo com HELLO + LSA flooding + Dijkstra por container. Explora sistematicamente os enlaces rápidos via latência medida. Reage a falhas (timeout 30 s). Convergência similar ao OSPF (~20-30 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11430000" cy="9144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 escolha do protocolo não é apenas técnica — é uma decisão sobre o que a rede deve otimizar: simplicidade, velocidade de convergência ou qualidade do caminho.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1439</Words>
  <Application>Microsoft Macintosh PowerPoint</Application>
  <PresentationFormat>Custom</PresentationFormat>
  <Paragraphs>201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Graveto, Vasco</cp:lastModifiedBy>
  <cp:revision>3</cp:revision>
  <dcterms:created xsi:type="dcterms:W3CDTF">2013-01-27T09:14:16Z</dcterms:created>
  <dcterms:modified xsi:type="dcterms:W3CDTF">2026-10-01T20:46:37Z</dcterms:modified>
  <cp:category/>
</cp:coreProperties>
</file>