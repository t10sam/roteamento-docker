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5" r:id="rId1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75"/>
  </p:normalViewPr>
  <p:slideViewPr>
    <p:cSldViewPr snapToGrid="0" snapToObjects="1">
      <p:cViewPr varScale="1">
        <p:scale>
          <a:sx n="105" d="100"/>
          <a:sy n="105" d="100"/>
        </p:scale>
        <p:origin x="798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868912" y="0"/>
            <a:ext cx="320040" cy="6858000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2377440"/>
            <a:ext cx="11868912" cy="2286000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Roteamento Dinâmico com Containers 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37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5B8DD9"/>
                </a:solidFill>
              </a:rPr>
              <a:t>Comparativo entre RIP, OSPF e Algoritmo Próprio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B8DD9"/>
                </a:solidFill>
              </a:rPr>
              <a:t>TrabalhoI_2026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AACC"/>
                </a:solidFill>
              </a:rPr>
              <a:t>Disciplina de Redes de Computadores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4739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TrabalhoI_2026  |  Roteamento Dinâmico com Containers Docker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34E"/>
                </a:solidFill>
              </a:rPr>
              <a:t>Objetivo do Trabalho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338560" cy="41148"/>
          </a:xfrm>
          <a:prstGeom prst="rect">
            <a:avLst/>
          </a:prstGeom>
          <a:solidFill>
            <a:srgbClr val="5B8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6858000" cy="2286000"/>
          </a:xfrm>
          <a:prstGeom prst="rect">
            <a:avLst/>
          </a:prstGeom>
          <a:solidFill>
            <a:srgbClr val="FFFFFF"/>
          </a:solidFill>
          <a:ln w="15240">
            <a:solidFill>
              <a:srgbClr val="5B8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1161288"/>
            <a:ext cx="6583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4E"/>
                </a:solidFill>
              </a:rPr>
              <a:t>Problema e Proposta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234E"/>
                </a:solidFill>
              </a:rPr>
              <a:t>Comparar protocolos de roteamento sem infraestrutura física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234E"/>
                </a:solidFill>
              </a:rPr>
              <a:t>Virtualizar roteadores reais usando containers Docker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234E"/>
                </a:solidFill>
              </a:rPr>
              <a:t>Implementar RIP, OSPF e um algoritmo próprio no mesmo ambiente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234E"/>
                </a:solidFill>
              </a:rPr>
              <a:t>Analisar as decisões de caminho de cada abordagem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1051560"/>
            <a:ext cx="4389120" cy="2286000"/>
          </a:xfrm>
          <a:prstGeom prst="rect">
            <a:avLst/>
          </a:prstGeom>
          <a:solidFill>
            <a:srgbClr val="FFFFFF"/>
          </a:solidFill>
          <a:ln w="15240">
            <a:solidFill>
              <a:srgbClr val="2E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35239" y="116128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1A234E"/>
                </a:solidFill>
              </a:rPr>
              <a:t>Ferramentas</a:t>
            </a:r>
          </a:p>
          <a:p>
            <a:pPr>
              <a:spcBef>
                <a:spcPts val="400"/>
              </a:spcBef>
            </a:pPr>
            <a:r>
              <a:rPr sz="1500" dirty="0">
                <a:solidFill>
                  <a:srgbClr val="1A234E"/>
                </a:solidFill>
              </a:rPr>
              <a:t>Docker Desktop</a:t>
            </a:r>
          </a:p>
          <a:p>
            <a:pPr>
              <a:spcBef>
                <a:spcPts val="400"/>
              </a:spcBef>
            </a:pPr>
            <a:r>
              <a:rPr sz="1500" dirty="0" err="1">
                <a:solidFill>
                  <a:srgbClr val="1A234E"/>
                </a:solidFill>
              </a:rPr>
              <a:t>FRRouting</a:t>
            </a:r>
            <a:r>
              <a:rPr sz="1500" dirty="0">
                <a:solidFill>
                  <a:srgbClr val="1A234E"/>
                </a:solidFill>
              </a:rPr>
              <a:t> (FRR) — daemon de </a:t>
            </a:r>
            <a:r>
              <a:rPr sz="1500" dirty="0" err="1">
                <a:solidFill>
                  <a:srgbClr val="1A234E"/>
                </a:solidFill>
              </a:rPr>
              <a:t>roteamento</a:t>
            </a:r>
            <a:r>
              <a:rPr sz="1500" dirty="0">
                <a:solidFill>
                  <a:srgbClr val="1A234E"/>
                </a:solidFill>
              </a:rPr>
              <a:t> open-source</a:t>
            </a:r>
          </a:p>
          <a:p>
            <a:pPr>
              <a:spcBef>
                <a:spcPts val="400"/>
              </a:spcBef>
            </a:pPr>
            <a:r>
              <a:rPr sz="1500" dirty="0">
                <a:solidFill>
                  <a:srgbClr val="1A234E"/>
                </a:solidFill>
              </a:rPr>
              <a:t>Python 3 — </a:t>
            </a:r>
            <a:r>
              <a:rPr sz="1500" dirty="0" err="1">
                <a:solidFill>
                  <a:srgbClr val="1A234E"/>
                </a:solidFill>
              </a:rPr>
              <a:t>algoritmo</a:t>
            </a:r>
            <a:r>
              <a:rPr sz="1500" dirty="0">
                <a:solidFill>
                  <a:srgbClr val="1A234E"/>
                </a:solidFill>
              </a:rPr>
              <a:t> </a:t>
            </a:r>
            <a:r>
              <a:rPr sz="1500" dirty="0" err="1">
                <a:solidFill>
                  <a:srgbClr val="1A234E"/>
                </a:solidFill>
              </a:rPr>
              <a:t>próprio</a:t>
            </a:r>
            <a:r>
              <a:rPr sz="1500" dirty="0">
                <a:solidFill>
                  <a:srgbClr val="1A234E"/>
                </a:solidFill>
              </a:rPr>
              <a:t> e </a:t>
            </a:r>
            <a:r>
              <a:rPr sz="1500" dirty="0" err="1">
                <a:solidFill>
                  <a:srgbClr val="1A234E"/>
                </a:solidFill>
              </a:rPr>
              <a:t>geração</a:t>
            </a:r>
            <a:r>
              <a:rPr sz="1500" dirty="0">
                <a:solidFill>
                  <a:srgbClr val="1A234E"/>
                </a:solidFill>
              </a:rPr>
              <a:t> de configs</a:t>
            </a:r>
          </a:p>
          <a:p>
            <a:pPr>
              <a:spcBef>
                <a:spcPts val="400"/>
              </a:spcBef>
            </a:pPr>
            <a:r>
              <a:rPr sz="1500" dirty="0">
                <a:solidFill>
                  <a:srgbClr val="1A234E"/>
                </a:solidFill>
              </a:rPr>
              <a:t>Shell script (aplicar.sh) — </a:t>
            </a:r>
            <a:r>
              <a:rPr sz="1500" dirty="0" err="1">
                <a:solidFill>
                  <a:srgbClr val="1A234E"/>
                </a:solidFill>
              </a:rPr>
              <a:t>orquestração</a:t>
            </a:r>
            <a:endParaRPr sz="1500" dirty="0">
              <a:solidFill>
                <a:srgbClr val="1A234E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7200" y="3474720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 dirty="0">
                <a:solidFill>
                  <a:srgbClr val="2E4B9E"/>
                </a:solidFill>
              </a:rPr>
              <a:t>Cada container Docker </a:t>
            </a:r>
            <a:r>
              <a:rPr sz="1400" b="0" i="1" dirty="0" err="1">
                <a:solidFill>
                  <a:srgbClr val="2E4B9E"/>
                </a:solidFill>
              </a:rPr>
              <a:t>representa</a:t>
            </a:r>
            <a:r>
              <a:rPr sz="1400" b="0" i="1" dirty="0">
                <a:solidFill>
                  <a:srgbClr val="2E4B9E"/>
                </a:solidFill>
              </a:rPr>
              <a:t> um </a:t>
            </a:r>
            <a:r>
              <a:rPr sz="1400" b="0" i="1" dirty="0" err="1">
                <a:solidFill>
                  <a:srgbClr val="2E4B9E"/>
                </a:solidFill>
              </a:rPr>
              <a:t>roteador</a:t>
            </a:r>
            <a:r>
              <a:rPr sz="1400" b="0" i="1" dirty="0">
                <a:solidFill>
                  <a:srgbClr val="2E4B9E"/>
                </a:solidFill>
              </a:rPr>
              <a:t> </a:t>
            </a:r>
            <a:r>
              <a:rPr sz="1400" b="0" i="1" dirty="0" err="1">
                <a:solidFill>
                  <a:srgbClr val="2E4B9E"/>
                </a:solidFill>
              </a:rPr>
              <a:t>físico</a:t>
            </a:r>
            <a:r>
              <a:rPr sz="1400" b="0" i="1" dirty="0">
                <a:solidFill>
                  <a:srgbClr val="2E4B9E"/>
                </a:solidFill>
              </a:rPr>
              <a:t> com </a:t>
            </a:r>
            <a:r>
              <a:rPr sz="1400" b="0" i="1" dirty="0" err="1">
                <a:solidFill>
                  <a:srgbClr val="2E4B9E"/>
                </a:solidFill>
              </a:rPr>
              <a:t>permissões</a:t>
            </a:r>
            <a:r>
              <a:rPr sz="1400" b="0" i="1" dirty="0">
                <a:solidFill>
                  <a:srgbClr val="2E4B9E"/>
                </a:solidFill>
              </a:rPr>
              <a:t> de rede reais (</a:t>
            </a:r>
            <a:r>
              <a:rPr lang="pt-BR" sz="1400" b="0" i="1" dirty="0">
                <a:solidFill>
                  <a:srgbClr val="2E4B9E"/>
                </a:solidFill>
              </a:rPr>
              <a:t>SYS_ADMIN, </a:t>
            </a:r>
            <a:r>
              <a:rPr sz="1400" b="0" i="1" dirty="0">
                <a:solidFill>
                  <a:srgbClr val="2E4B9E"/>
                </a:solidFill>
              </a:rPr>
              <a:t>NET_ADMIN, </a:t>
            </a:r>
            <a:r>
              <a:rPr sz="1400" b="0" i="1" dirty="0" err="1">
                <a:solidFill>
                  <a:srgbClr val="2E4B9E"/>
                </a:solidFill>
              </a:rPr>
              <a:t>ip_forward</a:t>
            </a:r>
            <a:r>
              <a:rPr sz="1400" b="0" i="1" dirty="0">
                <a:solidFill>
                  <a:srgbClr val="2E4B9E"/>
                </a:solidFill>
              </a:rPr>
              <a:t>), </a:t>
            </a:r>
            <a:r>
              <a:rPr sz="1400" b="0" i="1" dirty="0" err="1">
                <a:solidFill>
                  <a:srgbClr val="2E4B9E"/>
                </a:solidFill>
              </a:rPr>
              <a:t>executando</a:t>
            </a:r>
            <a:r>
              <a:rPr sz="1400" b="0" i="1" dirty="0">
                <a:solidFill>
                  <a:srgbClr val="2E4B9E"/>
                </a:solidFill>
              </a:rPr>
              <a:t> o </a:t>
            </a:r>
            <a:r>
              <a:rPr sz="1400" b="0" i="1" dirty="0" err="1">
                <a:solidFill>
                  <a:srgbClr val="2E4B9E"/>
                </a:solidFill>
              </a:rPr>
              <a:t>mesmo</a:t>
            </a:r>
            <a:r>
              <a:rPr sz="1400" b="0" i="1" dirty="0">
                <a:solidFill>
                  <a:srgbClr val="2E4B9E"/>
                </a:solidFill>
              </a:rPr>
              <a:t> stack de </a:t>
            </a:r>
            <a:r>
              <a:rPr sz="1400" b="0" i="1" dirty="0" err="1">
                <a:solidFill>
                  <a:srgbClr val="2E4B9E"/>
                </a:solidFill>
              </a:rPr>
              <a:t>roteamento</a:t>
            </a:r>
            <a:r>
              <a:rPr sz="1400" b="0" i="1" dirty="0">
                <a:solidFill>
                  <a:srgbClr val="2E4B9E"/>
                </a:solidFill>
              </a:rPr>
              <a:t> </a:t>
            </a:r>
            <a:r>
              <a:rPr sz="1400" b="0" i="1" dirty="0" err="1">
                <a:solidFill>
                  <a:srgbClr val="2E4B9E"/>
                </a:solidFill>
              </a:rPr>
              <a:t>usado</a:t>
            </a:r>
            <a:r>
              <a:rPr sz="1400" b="0" i="1" dirty="0">
                <a:solidFill>
                  <a:srgbClr val="2E4B9E"/>
                </a:solidFill>
              </a:rPr>
              <a:t> </a:t>
            </a:r>
            <a:r>
              <a:rPr sz="1400" b="0" i="1" dirty="0" err="1">
                <a:solidFill>
                  <a:srgbClr val="2E4B9E"/>
                </a:solidFill>
              </a:rPr>
              <a:t>em</a:t>
            </a:r>
            <a:r>
              <a:rPr sz="1400" b="0" i="1" dirty="0">
                <a:solidFill>
                  <a:srgbClr val="2E4B9E"/>
                </a:solidFill>
              </a:rPr>
              <a:t> </a:t>
            </a:r>
            <a:r>
              <a:rPr sz="1400" b="0" i="1" dirty="0" err="1">
                <a:solidFill>
                  <a:srgbClr val="2E4B9E"/>
                </a:solidFill>
              </a:rPr>
              <a:t>produção</a:t>
            </a:r>
            <a:r>
              <a:rPr sz="1400" b="0" i="1" dirty="0">
                <a:solidFill>
                  <a:srgbClr val="2E4B9E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4739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TrabalhoI_2026  |  Roteamento Dinâmico com Containers Docker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34E"/>
                </a:solidFill>
              </a:rPr>
              <a:t>Topologia da Rede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338560" cy="41148"/>
          </a:xfrm>
          <a:prstGeom prst="rect">
            <a:avLst/>
          </a:prstGeom>
          <a:solidFill>
            <a:srgbClr val="5B8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6217920" cy="4224528"/>
          </a:xfrm>
          <a:prstGeom prst="rect">
            <a:avLst/>
          </a:prstGeom>
          <a:solidFill>
            <a:srgbClr val="1E1E2E"/>
          </a:solidFill>
          <a:ln w="12700">
            <a:solidFill>
              <a:srgbClr val="2E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5076282"/>
              </p:ext>
            </p:extLst>
          </p:nvPr>
        </p:nvGraphicFramePr>
        <p:xfrm>
          <a:off x="6858000" y="1051560"/>
          <a:ext cx="50292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Enlace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Rede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Tipo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R1 – R2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192.168.5.0/29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Anel principal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R2 – R3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192.168.6.0/29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Anel principal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R3 – R4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192.168.7.0/29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Anel principal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R4 – R5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192.168.8.0/29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Anel principal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R5 – 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192.168.9.0/29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Anel principal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R1 – R3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192.100.1.0/29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 err="1">
                          <a:solidFill>
                            <a:srgbClr val="1A234E"/>
                          </a:solidFill>
                        </a:rPr>
                        <a:t>Redundância</a:t>
                      </a:r>
                      <a:endParaRPr sz="1300" b="0" dirty="0">
                        <a:solidFill>
                          <a:srgbClr val="1A234E"/>
                        </a:solidFill>
                      </a:endParaRPr>
                    </a:p>
                  </a:txBody>
                  <a:tcPr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R5 – R2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192.100.2.0/29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 err="1">
                          <a:solidFill>
                            <a:srgbClr val="1A234E"/>
                          </a:solidFill>
                        </a:rPr>
                        <a:t>Redundância</a:t>
                      </a:r>
                      <a:endParaRPr sz="1300" b="0" dirty="0">
                        <a:solidFill>
                          <a:srgbClr val="1A234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13" name="Imagem 12" descr="topologia.png">
            <a:extLst>
              <a:ext uri="{FF2B5EF4-FFF2-40B4-BE49-F238E27FC236}">
                <a16:creationId xmlns:a16="http://schemas.microsoft.com/office/drawing/2014/main" id="{9E98558C-5CDC-2C42-15A0-01421818A9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426" r="17483"/>
          <a:stretch>
            <a:fillRect/>
          </a:stretch>
        </p:blipFill>
        <p:spPr>
          <a:xfrm>
            <a:off x="1243584" y="1156716"/>
            <a:ext cx="4645152" cy="40142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4739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TrabalhoI_2026  |  Roteamento Dinâmico com Containers Docker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5176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 err="1">
                <a:solidFill>
                  <a:srgbClr val="1A234E"/>
                </a:solidFill>
              </a:rPr>
              <a:t>Infraestrutura</a:t>
            </a:r>
            <a:endParaRPr sz="2600" b="1" i="0" dirty="0">
              <a:solidFill>
                <a:srgbClr val="1A234E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338560" cy="41148"/>
          </a:xfrm>
          <a:prstGeom prst="rect">
            <a:avLst/>
          </a:prstGeom>
          <a:solidFill>
            <a:srgbClr val="5B8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9601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E4B9E"/>
                </a:solidFill>
              </a:rPr>
              <a:t>Como os containers simulam roteadores reais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051560"/>
            <a:ext cx="2926080" cy="512064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0972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Dockerfile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051560"/>
            <a:ext cx="84124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20440" y="1097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34E"/>
                </a:solidFill>
              </a:rPr>
              <a:t>Imagem Debian + FRR + Python 3 + iproute2 + ping + traceroute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645920"/>
            <a:ext cx="2926080" cy="512064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16916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docker-compose.yaml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1645920"/>
            <a:ext cx="84124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20440" y="16916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34E"/>
                </a:solidFill>
              </a:rPr>
              <a:t>5 serviços com IPs fixos, permissões NET_ADMIN e ip_forward=1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240280"/>
            <a:ext cx="2926080" cy="512064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2286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aplicar.sh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83280" y="2240280"/>
            <a:ext cx="84124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2044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34E"/>
                </a:solidFill>
              </a:rPr>
              <a:t>Copia configs e reinicia FRR (rip/ospf) ou inicia daemon Python (proprio)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834640"/>
            <a:ext cx="2926080" cy="512064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28803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configs/rip/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83280" y="2834640"/>
            <a:ext cx="84124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520440" y="2880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34E"/>
                </a:solidFill>
              </a:rPr>
              <a:t>frr.conf com router rip para cada roteador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429000"/>
            <a:ext cx="2926080" cy="512064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2920" y="34747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configs/ospf/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3429000"/>
            <a:ext cx="84124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520440" y="3474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34E"/>
                </a:solidFill>
              </a:rPr>
              <a:t>frr.conf com router ospf e router-id único por roteador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023360"/>
            <a:ext cx="2926080" cy="512064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" y="40690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algoritmo_proprio.py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83280" y="4023360"/>
            <a:ext cx="84124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520440" y="40690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34E"/>
                </a:solidFill>
              </a:rPr>
              <a:t>Agente Link-State: HELLO, LSA, Dijkstra — copiado para /opt/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617720"/>
            <a:ext cx="2926080" cy="512064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2920" y="46634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main.py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83280" y="4617720"/>
            <a:ext cx="84124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520440" y="4663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34E"/>
                </a:solidFill>
              </a:rPr>
              <a:t>Orquestrador de sockets UDP: dispara threads e liga o AgenteLinkState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074920"/>
            <a:ext cx="11430000" cy="868680"/>
          </a:xfrm>
          <a:prstGeom prst="rect">
            <a:avLst/>
          </a:prstGeom>
          <a:solidFill>
            <a:srgbClr val="1E1E2E"/>
          </a:solidFill>
          <a:ln w="12700">
            <a:solidFill>
              <a:srgbClr val="2E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66928" y="51663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dirty="0">
                <a:solidFill>
                  <a:srgbClr val="A8FF3E"/>
                </a:solidFill>
                <a:latin typeface="Courier New"/>
              </a:rPr>
              <a:t>./aplicar.sh rip       #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aplica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RIP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em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todos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os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roteadores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
./aplicar.sh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ospf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     #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aplica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OSPF
./aplicar.sh proprio   # para FRR,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copia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daemon Python e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inicia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em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cada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container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4739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TrabalhoI_2026  |  Roteamento Dinâmico com Containers Docker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34E"/>
                </a:solidFill>
              </a:rPr>
              <a:t>RIP — Routing Information Protocol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338560" cy="41148"/>
          </a:xfrm>
          <a:prstGeom prst="rect">
            <a:avLst/>
          </a:prstGeom>
          <a:solidFill>
            <a:srgbClr val="5B8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9601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E4B9E"/>
                </a:solidFill>
              </a:rPr>
              <a:t>Métrica: número de saltos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051560"/>
            <a:ext cx="5303520" cy="2011680"/>
          </a:xfrm>
          <a:prstGeom prst="rect">
            <a:avLst/>
          </a:prstGeom>
          <a:solidFill>
            <a:srgbClr val="FFFFFF"/>
          </a:solidFill>
          <a:ln w="15240">
            <a:solidFill>
              <a:srgbClr val="5B8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1161288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4E"/>
                </a:solidFill>
              </a:rPr>
              <a:t>Como funciona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Cada roteador anuncia suas redes aos vizinhos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Métrica = número de saltos (máx. 15)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Atualização periódica a cada 30 segundos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DA = 120  |  Daemon: ripd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051560"/>
            <a:ext cx="5943600" cy="2011680"/>
          </a:xfrm>
          <a:prstGeom prst="rect">
            <a:avLst/>
          </a:prstGeom>
          <a:solidFill>
            <a:srgbClr val="1E1E2E"/>
          </a:solidFill>
          <a:ln w="12700">
            <a:solidFill>
              <a:srgbClr val="2E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53328" y="1143000"/>
            <a:ext cx="5760720" cy="1874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8FF3E"/>
                </a:solidFill>
                <a:latin typeface="Courier New"/>
              </a:rPr>
              <a:t>router rip
 network 192.168.5.0/29
 network 192.168.9.0/29
 network 192.100.1.0/29
 redistribute connected
 version 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00400"/>
            <a:ext cx="6858000" cy="1828800"/>
          </a:xfrm>
          <a:prstGeom prst="rect">
            <a:avLst/>
          </a:prstGeom>
          <a:solidFill>
            <a:srgbClr val="FDFDF0"/>
          </a:solidFill>
          <a:ln w="15240">
            <a:solidFill>
              <a:srgbClr val="5B8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3310128"/>
            <a:ext cx="6583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4E"/>
                </a:solidFill>
              </a:rPr>
              <a:t>Tabela de rotas — R1 (output real)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R&gt;* 192.168.6.0/29 [120/2] via 192.168.5.3   ← foi por R2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R&gt;* 192.168.7.0/29 [120/2] via 192.100.1.3   ← foi por R3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R&gt;* 192.168.8.0/29 [120/2] via 192.168.9.3   ← foi por R5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R4→R1-R2:  [120/3]  ← 3 saltos  (maior distância)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79" y="3200400"/>
            <a:ext cx="438912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635239" y="3310128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4E"/>
                </a:solidFill>
              </a:rPr>
              <a:t>Características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Convergência: 30–90 segundos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Links rápidos ignorados se não reduzem saltos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Simples de configurar e entender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4739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TrabalhoI_2026  |  Roteamento Dinâmico com Containers Docker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34E"/>
                </a:solidFill>
              </a:rPr>
              <a:t>OSPF — Open Shortest Path First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338560" cy="41148"/>
          </a:xfrm>
          <a:prstGeom prst="rect">
            <a:avLst/>
          </a:prstGeom>
          <a:solidFill>
            <a:srgbClr val="5B8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9601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E4B9E"/>
                </a:solidFill>
              </a:rPr>
              <a:t>Métrica: custo por interface (padrão = 10)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051560"/>
            <a:ext cx="5303520" cy="2011680"/>
          </a:xfrm>
          <a:prstGeom prst="rect">
            <a:avLst/>
          </a:prstGeom>
          <a:solidFill>
            <a:srgbClr val="FFFFFF"/>
          </a:solidFill>
          <a:ln w="15240">
            <a:solidFill>
              <a:srgbClr val="5B8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1161288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4E"/>
                </a:solidFill>
              </a:rPr>
              <a:t>Como funciona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Cada roteador constrói mapa completo da rede (LSA)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Roda Dijkstra localmente para calcular melhores rotas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Convergência rápida (~5-15s) via troca de LSAs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DA = 110  |  Daemon: ospfd  |  Router-ID único por roteador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051560"/>
            <a:ext cx="5943600" cy="2011680"/>
          </a:xfrm>
          <a:prstGeom prst="rect">
            <a:avLst/>
          </a:prstGeom>
          <a:solidFill>
            <a:srgbClr val="1E1E2E"/>
          </a:solidFill>
          <a:ln w="12700">
            <a:solidFill>
              <a:srgbClr val="2E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53328" y="1143000"/>
            <a:ext cx="5760720" cy="1874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8FF3E"/>
                </a:solidFill>
                <a:latin typeface="Courier New"/>
              </a:rPr>
              <a:t>router ospf
 ospf router-id 1.1.1.1
 network 192.100.1.0/29 area 0
 network 192.168.5.0/29 area 0
 network 192.168.9.0/29 area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00400"/>
            <a:ext cx="6858000" cy="1828800"/>
          </a:xfrm>
          <a:prstGeom prst="rect">
            <a:avLst/>
          </a:prstGeom>
          <a:solidFill>
            <a:srgbClr val="FDFDF0"/>
          </a:solidFill>
          <a:ln w="15240">
            <a:solidFill>
              <a:srgbClr val="5B8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3310128"/>
            <a:ext cx="6583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4E"/>
                </a:solidFill>
              </a:rPr>
              <a:t>Tabela de rotas — R5 (output real)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O&gt;* 192.100.1.0/29 [110/20] via 192.168.9.2  ← remota, custo 20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O&gt;* 192.168.5.0/29 [110/20] via 192.168.9.2  ← 2 hops × 10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O   192.100.2.0/29 [110/10] is directly connected  ← perde para C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C&gt;* 192.100.2.0/29 is directly connected  ← C (DA=0) ganha de O (DA=110)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79" y="3200400"/>
            <a:ext cx="438912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5B8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635239" y="3310128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4E"/>
                </a:solidFill>
              </a:rPr>
              <a:t>Características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Com custo padrão = comportamento similar ao RIP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Potencial real: customizar custo por interface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Rotas diretas aparecem duplicadas: O + C&gt;*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4739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TrabalhoI_2026  |  Roteamento Dinâmico com Containers Docker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4798"/>
            <a:ext cx="11430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 err="1">
                <a:solidFill>
                  <a:srgbClr val="1A234E"/>
                </a:solidFill>
              </a:rPr>
              <a:t>Algoritmo</a:t>
            </a:r>
            <a:r>
              <a:rPr sz="2600" b="1" i="0" dirty="0">
                <a:solidFill>
                  <a:srgbClr val="1A234E"/>
                </a:solidFill>
              </a:rPr>
              <a:t> </a:t>
            </a:r>
            <a:r>
              <a:rPr sz="2600" b="1" i="0" dirty="0" err="1">
                <a:solidFill>
                  <a:srgbClr val="1A234E"/>
                </a:solidFill>
              </a:rPr>
              <a:t>Próprio</a:t>
            </a:r>
            <a:endParaRPr sz="2600" b="1" i="0" dirty="0">
              <a:solidFill>
                <a:srgbClr val="1A234E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338560" cy="41148"/>
          </a:xfrm>
          <a:prstGeom prst="rect">
            <a:avLst/>
          </a:prstGeom>
          <a:solidFill>
            <a:srgbClr val="5B8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9601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E4B9E"/>
                </a:solidFill>
              </a:rPr>
              <a:t>Métrica híbrida: (saltos × 10) + latência medida em tempo real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051560"/>
            <a:ext cx="11430000" cy="685800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Custo por enlace = 10 + latência_ms  (medida por ping entre vizinhos)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74519"/>
            <a:ext cx="5303520" cy="2834640"/>
          </a:xfrm>
          <a:prstGeom prst="rect">
            <a:avLst/>
          </a:prstGeom>
          <a:solidFill>
            <a:srgbClr val="FFFFFF"/>
          </a:solidFill>
          <a:ln w="15240">
            <a:solidFill>
              <a:srgbClr val="5B8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1984247"/>
            <a:ext cx="50292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4E"/>
                </a:solidFill>
              </a:rPr>
              <a:t>Fluxo do daemon (por container)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1. HELLO (broadcast UDP) — descobre vizinhos diretos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2. Ping — mede latência real a cada vizinho (a cada 10 s)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3. LSA (flooding UDP) — inunda LSDB para toda a rede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4. Dijkstra local — calcula melhor caminho em cada roteador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5. ip route replace — instala rotas no kernel Linux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874519"/>
            <a:ext cx="5943600" cy="2834640"/>
          </a:xfrm>
          <a:prstGeom prst="rect">
            <a:avLst/>
          </a:prstGeom>
          <a:solidFill>
            <a:srgbClr val="FFFFFF"/>
          </a:solidFill>
          <a:ln w="1524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80760" y="1984247"/>
            <a:ext cx="566928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 err="1">
                <a:solidFill>
                  <a:srgbClr val="1A234E"/>
                </a:solidFill>
              </a:rPr>
              <a:t>Características</a:t>
            </a:r>
            <a:endParaRPr sz="1400" b="1" dirty="0">
              <a:solidFill>
                <a:srgbClr val="1A234E"/>
              </a:solidFill>
            </a:endParaRPr>
          </a:p>
          <a:p>
            <a:pPr>
              <a:spcBef>
                <a:spcPts val="400"/>
              </a:spcBef>
            </a:pPr>
            <a:r>
              <a:rPr sz="1300" dirty="0">
                <a:solidFill>
                  <a:srgbClr val="1A234E"/>
                </a:solidFill>
              </a:rPr>
              <a:t>FRR é </a:t>
            </a:r>
            <a:r>
              <a:rPr sz="1300" dirty="0" err="1">
                <a:solidFill>
                  <a:srgbClr val="1A234E"/>
                </a:solidFill>
              </a:rPr>
              <a:t>parado</a:t>
            </a:r>
            <a:r>
              <a:rPr lang="pt-BR" sz="1300" dirty="0">
                <a:solidFill>
                  <a:srgbClr val="1A234E"/>
                </a:solidFill>
              </a:rPr>
              <a:t>, então </a:t>
            </a:r>
            <a:r>
              <a:rPr sz="1300" dirty="0">
                <a:solidFill>
                  <a:srgbClr val="1A234E"/>
                </a:solidFill>
              </a:rPr>
              <a:t>Python assume o kernel</a:t>
            </a:r>
          </a:p>
          <a:p>
            <a:pPr>
              <a:spcBef>
                <a:spcPts val="400"/>
              </a:spcBef>
            </a:pPr>
            <a:r>
              <a:rPr sz="1300" dirty="0">
                <a:solidFill>
                  <a:srgbClr val="1A234E"/>
                </a:solidFill>
              </a:rPr>
              <a:t>Cada container </a:t>
            </a:r>
            <a:r>
              <a:rPr sz="1300" dirty="0" err="1">
                <a:solidFill>
                  <a:srgbClr val="1A234E"/>
                </a:solidFill>
              </a:rPr>
              <a:t>roda</a:t>
            </a:r>
            <a:r>
              <a:rPr sz="1300" dirty="0">
                <a:solidFill>
                  <a:srgbClr val="1A234E"/>
                </a:solidFill>
              </a:rPr>
              <a:t> main.py com threads </a:t>
            </a:r>
            <a:r>
              <a:rPr sz="1300" dirty="0" err="1">
                <a:solidFill>
                  <a:srgbClr val="1A234E"/>
                </a:solidFill>
              </a:rPr>
              <a:t>independentes</a:t>
            </a:r>
            <a:endParaRPr sz="1300" dirty="0">
              <a:solidFill>
                <a:srgbClr val="1A234E"/>
              </a:solidFill>
            </a:endParaRPr>
          </a:p>
          <a:p>
            <a:pPr>
              <a:spcBef>
                <a:spcPts val="400"/>
              </a:spcBef>
            </a:pPr>
            <a:r>
              <a:rPr sz="1300" dirty="0" err="1">
                <a:solidFill>
                  <a:srgbClr val="1A234E"/>
                </a:solidFill>
              </a:rPr>
              <a:t>Reage</a:t>
            </a:r>
            <a:r>
              <a:rPr sz="1300" dirty="0">
                <a:solidFill>
                  <a:srgbClr val="1A234E"/>
                </a:solidFill>
              </a:rPr>
              <a:t> a </a:t>
            </a:r>
            <a:r>
              <a:rPr sz="1300" dirty="0" err="1">
                <a:solidFill>
                  <a:srgbClr val="1A234E"/>
                </a:solidFill>
              </a:rPr>
              <a:t>mudanças</a:t>
            </a:r>
            <a:r>
              <a:rPr sz="1300" dirty="0">
                <a:solidFill>
                  <a:srgbClr val="1A234E"/>
                </a:solidFill>
              </a:rPr>
              <a:t> de </a:t>
            </a:r>
            <a:r>
              <a:rPr sz="1300" dirty="0" err="1">
                <a:solidFill>
                  <a:srgbClr val="1A234E"/>
                </a:solidFill>
              </a:rPr>
              <a:t>latência</a:t>
            </a:r>
            <a:endParaRPr sz="1300" dirty="0">
              <a:solidFill>
                <a:srgbClr val="1A234E"/>
              </a:solidFill>
            </a:endParaRPr>
          </a:p>
          <a:p>
            <a:pPr>
              <a:spcBef>
                <a:spcPts val="400"/>
              </a:spcBef>
            </a:pPr>
            <a:r>
              <a:rPr sz="1300" dirty="0">
                <a:solidFill>
                  <a:srgbClr val="1A234E"/>
                </a:solidFill>
              </a:rPr>
              <a:t>Timeout de </a:t>
            </a:r>
            <a:r>
              <a:rPr sz="1300" dirty="0" err="1">
                <a:solidFill>
                  <a:srgbClr val="1A234E"/>
                </a:solidFill>
              </a:rPr>
              <a:t>vizinho</a:t>
            </a:r>
            <a:r>
              <a:rPr sz="1300" dirty="0">
                <a:solidFill>
                  <a:srgbClr val="1A234E"/>
                </a:solidFill>
              </a:rPr>
              <a:t>: 30 s</a:t>
            </a:r>
            <a:endParaRPr lang="pt-BR" sz="1300" dirty="0">
              <a:solidFill>
                <a:srgbClr val="1A234E"/>
              </a:solidFill>
            </a:endParaRPr>
          </a:p>
          <a:p>
            <a:pPr>
              <a:spcBef>
                <a:spcPts val="400"/>
              </a:spcBef>
            </a:pPr>
            <a:r>
              <a:rPr sz="1300" dirty="0">
                <a:solidFill>
                  <a:srgbClr val="1A234E"/>
                </a:solidFill>
              </a:rPr>
              <a:t>Timeout de LSA: 60 s </a:t>
            </a:r>
            <a:r>
              <a:rPr lang="pt-BR" sz="1300" dirty="0">
                <a:solidFill>
                  <a:srgbClr val="1A234E"/>
                </a:solidFill>
              </a:rPr>
              <a:t>(</a:t>
            </a:r>
            <a:r>
              <a:rPr sz="1300" dirty="0">
                <a:solidFill>
                  <a:srgbClr val="1A234E"/>
                </a:solidFill>
              </a:rPr>
              <a:t>remove info </a:t>
            </a:r>
            <a:r>
              <a:rPr sz="1300" dirty="0" err="1">
                <a:solidFill>
                  <a:srgbClr val="1A234E"/>
                </a:solidFill>
              </a:rPr>
              <a:t>desatualizada</a:t>
            </a:r>
            <a:r>
              <a:rPr lang="pt-BR" sz="1300" dirty="0">
                <a:solidFill>
                  <a:srgbClr val="1A234E"/>
                </a:solidFill>
              </a:rPr>
              <a:t>)</a:t>
            </a:r>
            <a:endParaRPr sz="1300" dirty="0">
              <a:solidFill>
                <a:srgbClr val="1A234E"/>
              </a:solidFill>
            </a:endParaRPr>
          </a:p>
          <a:p>
            <a:pPr>
              <a:spcBef>
                <a:spcPts val="400"/>
              </a:spcBef>
            </a:pPr>
            <a:r>
              <a:rPr sz="1300" dirty="0">
                <a:solidFill>
                  <a:srgbClr val="1A234E"/>
                </a:solidFill>
              </a:rPr>
              <a:t>Portas UDP: 5006 (HELLO) e 5007 (LSA)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800600"/>
            <a:ext cx="11430000" cy="822960"/>
          </a:xfrm>
          <a:prstGeom prst="rect">
            <a:avLst/>
          </a:prstGeom>
          <a:solidFill>
            <a:srgbClr val="1E1E2E"/>
          </a:solidFill>
          <a:ln w="12700">
            <a:solidFill>
              <a:srgbClr val="2E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6928" y="4892040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dirty="0">
                <a:solidFill>
                  <a:srgbClr val="A8FF3E"/>
                </a:solidFill>
                <a:latin typeface="Courier New"/>
              </a:rPr>
              <a:t># kernel route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instalada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pelo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daemon (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ip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route show):
192.168.6.0/29 via 192.100.1.3    ← R1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foi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por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R3 (3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ms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,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custo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13)
192.168.5.0/29 via 192.100.2.3    ← R5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foi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por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R2 (3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ms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,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custo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13)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4739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TrabalhoI_2026  |  Roteamento Dinâmico com Containers Docker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34E"/>
                </a:solidFill>
              </a:rPr>
              <a:t>Comparativo — Decisões de Rota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338560" cy="41148"/>
          </a:xfrm>
          <a:prstGeom prst="rect">
            <a:avLst/>
          </a:prstGeom>
          <a:solidFill>
            <a:srgbClr val="5B8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051560"/>
          <a:ext cx="11430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Origem → Destino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RIP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OSPF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Algoritmo Próprio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R1 → rede R2-R3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via R2  (10ms)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via R2  (custo 10)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★ via R3  (3ms)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R3 → rede R1-R2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via R2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via R2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★ via R1  (3ms)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R5 → rede R1-R2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via R1  (9ms)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via R1  (custo 10)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★ via R2  (3ms)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R4 → rede R1-R2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via R3  [3 saltos]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via R3  [custo 30]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via R3  [custo 25]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063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34E"/>
                </a:solidFill>
              </a:rPr>
              <a:t>Uso dos enlaces de redundância (R1-R3 e R5-R2):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429000"/>
          <a:ext cx="114300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Protocolo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Usa links rápidos?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Critério de decisão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Parcialmente — por coincidência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Só quando reduz o nº de saltos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OSPF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Parcialmente — custo igual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Custo padrão 10 = igual a todos os enlaces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Próprio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✔ Sistematicamente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Latência menor = custo menor = rota preferida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4739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TrabalhoI_2026  |  Roteamento Dinâmico com Containers Docker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34E"/>
                </a:solidFill>
              </a:rPr>
              <a:t>Comparativo — Características Técnicas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338560" cy="41148"/>
          </a:xfrm>
          <a:prstGeom prst="rect">
            <a:avLst/>
          </a:prstGeom>
          <a:solidFill>
            <a:srgbClr val="5B8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4739429"/>
              </p:ext>
            </p:extLst>
          </p:nvPr>
        </p:nvGraphicFramePr>
        <p:xfrm>
          <a:off x="457200" y="1051560"/>
          <a:ext cx="114300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300" b="1" dirty="0" err="1">
                          <a:solidFill>
                            <a:srgbClr val="FFFFFF"/>
                          </a:solidFill>
                        </a:rPr>
                        <a:t>Critério</a:t>
                      </a:r>
                      <a:endParaRPr sz="1300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A23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RIP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OSPF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Algoritmo Próprio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Código na tabela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A234E"/>
                          </a:solidFill>
                        </a:rPr>
                        <a:t>(kernel, </a:t>
                      </a:r>
                      <a:r>
                        <a:rPr sz="1300" b="0" dirty="0" err="1">
                          <a:solidFill>
                            <a:srgbClr val="1A234E"/>
                          </a:solidFill>
                        </a:rPr>
                        <a:t>ip</a:t>
                      </a:r>
                      <a:r>
                        <a:rPr sz="1300" b="0" dirty="0">
                          <a:solidFill>
                            <a:srgbClr val="1A234E"/>
                          </a:solidFill>
                        </a:rPr>
                        <a:t> route)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Distância administrativa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120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110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A234E"/>
                          </a:solidFill>
                        </a:rPr>
                        <a:t>(bypass FRR)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Métrica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Saltos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Custo (padrão 10)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(saltos×10) + latência real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Convergência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30–90 s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~5–30 s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A234E"/>
                          </a:solidFill>
                        </a:rPr>
                        <a:t>~20–30 s (HELLO</a:t>
                      </a:r>
                      <a:r>
                        <a:rPr lang="pt-BR" sz="1300" b="0" dirty="0">
                          <a:solidFill>
                            <a:srgbClr val="1A234E"/>
                          </a:solidFill>
                        </a:rPr>
                        <a:t>-</a:t>
                      </a:r>
                      <a:r>
                        <a:rPr sz="1300" b="0" dirty="0">
                          <a:solidFill>
                            <a:srgbClr val="1A234E"/>
                          </a:solidFill>
                        </a:rPr>
                        <a:t>LSA</a:t>
                      </a:r>
                      <a:r>
                        <a:rPr lang="pt-BR" sz="1300" b="0" dirty="0">
                          <a:solidFill>
                            <a:srgbClr val="1A234E"/>
                          </a:solidFill>
                        </a:rPr>
                        <a:t>-</a:t>
                      </a:r>
                      <a:r>
                        <a:rPr sz="1300" b="0" dirty="0">
                          <a:solidFill>
                            <a:srgbClr val="1A234E"/>
                          </a:solidFill>
                        </a:rPr>
                        <a:t>Dijkstra)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Reage a falhas?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Sim (lento)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Sim (rápido)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Sim — timeout vizinho 30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Troca mensagens?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Sim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Sim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A234E"/>
                          </a:solidFill>
                        </a:rPr>
                        <a:t>Sim (HELLO UDP + LSA flooding)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B1D36-5FC7-1685-C36D-89FD573DF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3933D8B-37F1-A105-E91C-E857FC8ED614}"/>
              </a:ext>
            </a:extLst>
          </p:cNvPr>
          <p:cNvSpPr/>
          <p:nvPr/>
        </p:nvSpPr>
        <p:spPr>
          <a:xfrm>
            <a:off x="0" y="137160"/>
            <a:ext cx="12188952" cy="6245352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0854E4-96C4-3F69-DDF9-2882F0D1678B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96C85D-F28E-E9A0-43D2-331460A0BD72}"/>
              </a:ext>
            </a:extLst>
          </p:cNvPr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770445-E68E-824C-CC98-5D388CA3ECD0}"/>
              </a:ext>
            </a:extLst>
          </p:cNvPr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E5A9F4-4277-672B-E69E-1C2B0F5F7596}"/>
              </a:ext>
            </a:extLst>
          </p:cNvPr>
          <p:cNvSpPr txBox="1"/>
          <p:nvPr/>
        </p:nvSpPr>
        <p:spPr>
          <a:xfrm>
            <a:off x="274320" y="64739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TrabalhoI_2026  |  Roteamento Dinâmico com Containers Docker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835888-36B2-9FF6-507B-486405E2E357}"/>
              </a:ext>
            </a:extLst>
          </p:cNvPr>
          <p:cNvSpPr txBox="1"/>
          <p:nvPr/>
        </p:nvSpPr>
        <p:spPr>
          <a:xfrm>
            <a:off x="365760" y="122311"/>
            <a:ext cx="11430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 err="1">
                <a:solidFill>
                  <a:srgbClr val="1A234E"/>
                </a:solidFill>
              </a:rPr>
              <a:t>Comparativo</a:t>
            </a:r>
            <a:r>
              <a:rPr sz="2600" b="1" i="0" dirty="0">
                <a:solidFill>
                  <a:srgbClr val="1A234E"/>
                </a:solidFill>
              </a:rPr>
              <a:t> — </a:t>
            </a:r>
            <a:r>
              <a:rPr lang="pt-BR" sz="2600" b="1" i="0" dirty="0">
                <a:solidFill>
                  <a:srgbClr val="1A234E"/>
                </a:solidFill>
              </a:rPr>
              <a:t>Gráficos</a:t>
            </a:r>
            <a:endParaRPr sz="2600" b="1" i="0" dirty="0">
              <a:solidFill>
                <a:srgbClr val="1A234E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BEAD99-BDCF-EA57-9B59-18DEEA023D09}"/>
              </a:ext>
            </a:extLst>
          </p:cNvPr>
          <p:cNvSpPr/>
          <p:nvPr/>
        </p:nvSpPr>
        <p:spPr>
          <a:xfrm>
            <a:off x="457200" y="577025"/>
            <a:ext cx="11338560" cy="41148"/>
          </a:xfrm>
          <a:prstGeom prst="rect">
            <a:avLst/>
          </a:prstGeom>
          <a:solidFill>
            <a:srgbClr val="5B8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BBE8F81-BFEC-2AB3-83D2-E459B16AED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2412" y="733626"/>
            <a:ext cx="8740383" cy="5651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573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4739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TrabalhoI_2026  |  Roteamento Dinâmico com Containers Docker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974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 err="1">
                <a:solidFill>
                  <a:srgbClr val="1A234E"/>
                </a:solidFill>
              </a:rPr>
              <a:t>Conclusão</a:t>
            </a:r>
            <a:endParaRPr sz="2600" b="1" i="0" dirty="0">
              <a:solidFill>
                <a:srgbClr val="1A234E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338560" cy="41148"/>
          </a:xfrm>
          <a:prstGeom prst="rect">
            <a:avLst/>
          </a:prstGeom>
          <a:solidFill>
            <a:srgbClr val="5B8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109728" cy="10058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94360" y="1097280"/>
            <a:ext cx="111556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1430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34E"/>
                </a:solidFill>
              </a:rPr>
              <a:t>RIP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536192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1A234E"/>
                </a:solidFill>
              </a:rPr>
              <a:t>Simples, mas </a:t>
            </a:r>
            <a:r>
              <a:rPr lang="pt-BR" sz="1300" b="0" i="0" dirty="0">
                <a:solidFill>
                  <a:srgbClr val="1A234E"/>
                </a:solidFill>
              </a:rPr>
              <a:t>é </a:t>
            </a:r>
            <a:r>
              <a:rPr sz="1300" b="0" i="0" dirty="0" err="1">
                <a:solidFill>
                  <a:srgbClr val="1A234E"/>
                </a:solidFill>
              </a:rPr>
              <a:t>cego</a:t>
            </a:r>
            <a:r>
              <a:rPr sz="1300" b="0" i="0" dirty="0">
                <a:solidFill>
                  <a:srgbClr val="1A234E"/>
                </a:solidFill>
              </a:rPr>
              <a:t> à </a:t>
            </a:r>
            <a:r>
              <a:rPr sz="1300" b="0" i="0" dirty="0" err="1">
                <a:solidFill>
                  <a:srgbClr val="1A234E"/>
                </a:solidFill>
              </a:rPr>
              <a:t>qualidade</a:t>
            </a:r>
            <a:r>
              <a:rPr sz="1300" b="0" i="0" dirty="0">
                <a:solidFill>
                  <a:srgbClr val="1A234E"/>
                </a:solidFill>
              </a:rPr>
              <a:t> dos enlaces. </a:t>
            </a:r>
            <a:r>
              <a:rPr sz="1300" b="0" i="0" dirty="0" err="1">
                <a:solidFill>
                  <a:srgbClr val="1A234E"/>
                </a:solidFill>
              </a:rPr>
              <a:t>Convergência</a:t>
            </a:r>
            <a:r>
              <a:rPr sz="1300" b="0" i="0" dirty="0">
                <a:solidFill>
                  <a:srgbClr val="1A234E"/>
                </a:solidFill>
              </a:rPr>
              <a:t> lenta. </a:t>
            </a:r>
            <a:r>
              <a:rPr sz="1300" b="0" i="0" dirty="0" err="1">
                <a:solidFill>
                  <a:srgbClr val="1A234E"/>
                </a:solidFill>
              </a:rPr>
              <a:t>Adequado</a:t>
            </a:r>
            <a:r>
              <a:rPr sz="1300" b="0" i="0" dirty="0">
                <a:solidFill>
                  <a:srgbClr val="1A234E"/>
                </a:solidFill>
              </a:rPr>
              <a:t> para redes </a:t>
            </a:r>
            <a:r>
              <a:rPr sz="1300" b="0" i="0" dirty="0" err="1">
                <a:solidFill>
                  <a:srgbClr val="1A234E"/>
                </a:solidFill>
              </a:rPr>
              <a:t>pequenas</a:t>
            </a:r>
            <a:r>
              <a:rPr sz="1300" b="0" i="0" dirty="0">
                <a:solidFill>
                  <a:srgbClr val="1A234E"/>
                </a:solidFill>
              </a:rPr>
              <a:t> e </a:t>
            </a:r>
            <a:r>
              <a:rPr sz="1300" b="0" i="0" dirty="0" err="1">
                <a:solidFill>
                  <a:srgbClr val="1A234E"/>
                </a:solidFill>
              </a:rPr>
              <a:t>homogêneas</a:t>
            </a:r>
            <a:r>
              <a:rPr sz="1300" b="0" i="0" dirty="0">
                <a:solidFill>
                  <a:srgbClr val="1A234E"/>
                </a:solidFill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194560"/>
            <a:ext cx="109728" cy="1005840"/>
          </a:xfrm>
          <a:prstGeom prst="rect">
            <a:avLst/>
          </a:prstGeom>
          <a:solidFill>
            <a:srgbClr val="5B8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94360" y="2194560"/>
            <a:ext cx="111556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2240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34E"/>
                </a:solidFill>
              </a:rPr>
              <a:t>OSPF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63347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1A234E"/>
                </a:solidFill>
              </a:rPr>
              <a:t>Mais </a:t>
            </a:r>
            <a:r>
              <a:rPr sz="1300" b="0" i="0" dirty="0" err="1">
                <a:solidFill>
                  <a:srgbClr val="1A234E"/>
                </a:solidFill>
              </a:rPr>
              <a:t>robusto</a:t>
            </a:r>
            <a:r>
              <a:rPr sz="1300" b="0" i="0" dirty="0">
                <a:solidFill>
                  <a:srgbClr val="1A234E"/>
                </a:solidFill>
              </a:rPr>
              <a:t> e de </a:t>
            </a:r>
            <a:r>
              <a:rPr sz="1300" b="0" i="0" dirty="0" err="1">
                <a:solidFill>
                  <a:srgbClr val="1A234E"/>
                </a:solidFill>
              </a:rPr>
              <a:t>convergência</a:t>
            </a:r>
            <a:r>
              <a:rPr sz="1300" b="0" i="0" dirty="0">
                <a:solidFill>
                  <a:srgbClr val="1A234E"/>
                </a:solidFill>
              </a:rPr>
              <a:t> </a:t>
            </a:r>
            <a:r>
              <a:rPr sz="1300" b="0" i="0" dirty="0" err="1">
                <a:solidFill>
                  <a:srgbClr val="1A234E"/>
                </a:solidFill>
              </a:rPr>
              <a:t>rápida</a:t>
            </a:r>
            <a:r>
              <a:rPr sz="1300" b="0" i="0" dirty="0">
                <a:solidFill>
                  <a:srgbClr val="1A234E"/>
                </a:solidFill>
              </a:rPr>
              <a:t>. Com custos </a:t>
            </a:r>
            <a:r>
              <a:rPr sz="1300" b="0" i="0" dirty="0" err="1">
                <a:solidFill>
                  <a:srgbClr val="1A234E"/>
                </a:solidFill>
              </a:rPr>
              <a:t>padrão</a:t>
            </a:r>
            <a:r>
              <a:rPr sz="1300" b="0" i="0" dirty="0">
                <a:solidFill>
                  <a:srgbClr val="1A234E"/>
                </a:solidFill>
              </a:rPr>
              <a:t> se </a:t>
            </a:r>
            <a:r>
              <a:rPr sz="1300" b="0" i="0" dirty="0" err="1">
                <a:solidFill>
                  <a:srgbClr val="1A234E"/>
                </a:solidFill>
              </a:rPr>
              <a:t>comporta</a:t>
            </a:r>
            <a:r>
              <a:rPr sz="1300" b="0" i="0" dirty="0">
                <a:solidFill>
                  <a:srgbClr val="1A234E"/>
                </a:solidFill>
              </a:rPr>
              <a:t> </a:t>
            </a:r>
            <a:r>
              <a:rPr sz="1300" b="0" i="0" dirty="0" err="1">
                <a:solidFill>
                  <a:srgbClr val="1A234E"/>
                </a:solidFill>
              </a:rPr>
              <a:t>como</a:t>
            </a:r>
            <a:r>
              <a:rPr sz="1300" b="0" i="0" dirty="0">
                <a:solidFill>
                  <a:srgbClr val="1A234E"/>
                </a:solidFill>
              </a:rPr>
              <a:t> RIP — </a:t>
            </a:r>
            <a:r>
              <a:rPr sz="1300" b="0" i="0" dirty="0" err="1">
                <a:solidFill>
                  <a:srgbClr val="1A234E"/>
                </a:solidFill>
              </a:rPr>
              <a:t>seu</a:t>
            </a:r>
            <a:r>
              <a:rPr sz="1300" b="0" i="0" dirty="0">
                <a:solidFill>
                  <a:srgbClr val="1A234E"/>
                </a:solidFill>
              </a:rPr>
              <a:t> </a:t>
            </a:r>
            <a:r>
              <a:rPr sz="1300" b="0" i="0" dirty="0" err="1">
                <a:solidFill>
                  <a:srgbClr val="1A234E"/>
                </a:solidFill>
              </a:rPr>
              <a:t>potencial</a:t>
            </a:r>
            <a:r>
              <a:rPr sz="1300" b="0" i="0" dirty="0">
                <a:solidFill>
                  <a:srgbClr val="1A234E"/>
                </a:solidFill>
              </a:rPr>
              <a:t> real </a:t>
            </a:r>
            <a:r>
              <a:rPr sz="1300" b="0" i="0" dirty="0" err="1">
                <a:solidFill>
                  <a:srgbClr val="1A234E"/>
                </a:solidFill>
              </a:rPr>
              <a:t>exige</a:t>
            </a:r>
            <a:r>
              <a:rPr sz="1300" b="0" i="0" dirty="0">
                <a:solidFill>
                  <a:srgbClr val="1A234E"/>
                </a:solidFill>
              </a:rPr>
              <a:t> </a:t>
            </a:r>
            <a:r>
              <a:rPr sz="1300" b="0" i="0" dirty="0" err="1">
                <a:solidFill>
                  <a:srgbClr val="1A234E"/>
                </a:solidFill>
              </a:rPr>
              <a:t>customização</a:t>
            </a:r>
            <a:r>
              <a:rPr sz="1300" b="0" i="0" dirty="0">
                <a:solidFill>
                  <a:srgbClr val="1A234E"/>
                </a:solidFill>
              </a:rPr>
              <a:t> de </a:t>
            </a:r>
            <a:r>
              <a:rPr sz="1300" b="0" i="0" dirty="0" err="1">
                <a:solidFill>
                  <a:srgbClr val="1A234E"/>
                </a:solidFill>
              </a:rPr>
              <a:t>custo</a:t>
            </a:r>
            <a:r>
              <a:rPr sz="1300" b="0" i="0" dirty="0">
                <a:solidFill>
                  <a:srgbClr val="1A234E"/>
                </a:solidFill>
              </a:rPr>
              <a:t> </a:t>
            </a:r>
            <a:r>
              <a:rPr sz="1300" b="0" i="0" dirty="0" err="1">
                <a:solidFill>
                  <a:srgbClr val="1A234E"/>
                </a:solidFill>
              </a:rPr>
              <a:t>por</a:t>
            </a:r>
            <a:r>
              <a:rPr sz="1300" b="0" i="0" dirty="0">
                <a:solidFill>
                  <a:srgbClr val="1A234E"/>
                </a:solidFill>
              </a:rPr>
              <a:t> interface.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91840"/>
            <a:ext cx="109728" cy="10058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94360" y="3291840"/>
            <a:ext cx="111556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3429000"/>
            <a:ext cx="27432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 err="1">
                <a:solidFill>
                  <a:srgbClr val="1A234E"/>
                </a:solidFill>
              </a:rPr>
              <a:t>Algoritmo</a:t>
            </a:r>
            <a:r>
              <a:rPr sz="1500" b="1" i="0" dirty="0">
                <a:solidFill>
                  <a:srgbClr val="1A234E"/>
                </a:solidFill>
              </a:rPr>
              <a:t> </a:t>
            </a:r>
            <a:r>
              <a:rPr sz="1500" b="1" i="0" dirty="0" err="1">
                <a:solidFill>
                  <a:srgbClr val="1A234E"/>
                </a:solidFill>
              </a:rPr>
              <a:t>Própri</a:t>
            </a:r>
            <a:r>
              <a:rPr lang="pt-BR" sz="1500" b="1" i="0" dirty="0">
                <a:solidFill>
                  <a:srgbClr val="1A234E"/>
                </a:solidFill>
              </a:rPr>
              <a:t>o</a:t>
            </a:r>
            <a:endParaRPr sz="1500" b="1" i="0" dirty="0">
              <a:solidFill>
                <a:srgbClr val="1A234E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85800" y="37307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34E"/>
                </a:solidFill>
              </a:rPr>
              <a:t>Daemon Python vivo com HELLO + LSA flooding + Dijkstra por container. Explora sistematicamente os enlaces rápidos via latência medida. Reage a falhas (timeout 30 s). Convergência similar ao OSPF (~20-30 s).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434840"/>
            <a:ext cx="11430000" cy="914400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448056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 escolha do protocolo não é apenas técnica — é uma decisão sobre o que a rede deve otimizar: simplicidade, velocidade de convergência ou qualidade do caminho.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1291</Words>
  <Application>Microsoft Office PowerPoint</Application>
  <PresentationFormat>Personalizar</PresentationFormat>
  <Paragraphs>191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SAMUEL CORREIA</cp:lastModifiedBy>
  <cp:revision>5</cp:revision>
  <dcterms:created xsi:type="dcterms:W3CDTF">2013-01-27T09:14:16Z</dcterms:created>
  <dcterms:modified xsi:type="dcterms:W3CDTF">2026-10-01T21:14:12Z</dcterms:modified>
  <cp:category/>
</cp:coreProperties>
</file>