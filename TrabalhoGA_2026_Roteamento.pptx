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06"/>
  </p:normalViewPr>
  <p:slideViewPr>
    <p:cSldViewPr snapToGrid="0" snapToObjects="1">
      <p:cViewPr varScale="1">
        <p:scale>
          <a:sx n="119" d="100"/>
          <a:sy n="119" d="100"/>
        </p:scale>
        <p:origin x="85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74320"/>
            <a:ext cx="1218895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11868912" y="0"/>
            <a:ext cx="320040" cy="6858000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377440"/>
            <a:ext cx="11868912" cy="2286000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46888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</a:rPr>
              <a:t>Roteamento Dinâmico com Containers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100584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1" dirty="0" err="1">
                <a:solidFill>
                  <a:srgbClr val="5B8DD9"/>
                </a:solidFill>
              </a:rPr>
              <a:t>Comparativo</a:t>
            </a:r>
            <a:r>
              <a:rPr sz="2000" b="0" i="1" dirty="0">
                <a:solidFill>
                  <a:srgbClr val="5B8DD9"/>
                </a:solidFill>
              </a:rPr>
              <a:t> entre RIP, OSPF e </a:t>
            </a:r>
            <a:r>
              <a:rPr sz="2000" b="0" i="1" dirty="0" err="1">
                <a:solidFill>
                  <a:srgbClr val="5B8DD9"/>
                </a:solidFill>
              </a:rPr>
              <a:t>Algoritmo</a:t>
            </a:r>
            <a:r>
              <a:rPr sz="2000" b="0" i="1" dirty="0">
                <a:solidFill>
                  <a:srgbClr val="5B8DD9"/>
                </a:solidFill>
              </a:rPr>
              <a:t> </a:t>
            </a:r>
            <a:r>
              <a:rPr sz="2000" b="0" i="1" dirty="0" err="1">
                <a:solidFill>
                  <a:srgbClr val="5B8DD9"/>
                </a:solidFill>
              </a:rPr>
              <a:t>Próprio</a:t>
            </a:r>
            <a:endParaRPr lang="pt-BR" sz="2000" b="0" i="1" dirty="0">
              <a:solidFill>
                <a:srgbClr val="5B8DD9"/>
              </a:solidFill>
            </a:endParaRPr>
          </a:p>
          <a:p>
            <a:pPr algn="l"/>
            <a:endParaRPr lang="en-BR" sz="2000" i="1" dirty="0">
              <a:solidFill>
                <a:srgbClr val="5B8DD9"/>
              </a:solidFill>
            </a:endParaRPr>
          </a:p>
          <a:p>
            <a:pPr algn="l"/>
            <a:r>
              <a:rPr lang="en-BR" sz="2000" i="1" dirty="0">
                <a:solidFill>
                  <a:srgbClr val="5B8DD9"/>
                </a:solidFill>
              </a:rPr>
              <a:t>Vasco Graveto e Samuel</a:t>
            </a:r>
            <a:endParaRPr sz="2000" b="0" i="1" dirty="0">
              <a:solidFill>
                <a:srgbClr val="5B8DD9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6126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AACC"/>
                </a:solidFill>
              </a:rPr>
              <a:t>Disciplina de Redes de Computadores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Objetivo do Trabalho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685800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94360" y="1161288"/>
            <a:ext cx="6583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4E"/>
                </a:solidFill>
              </a:rPr>
              <a:t>Problema e Proposta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Comparar protocolos de roteamento sem infraestrutura física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Virtualizar roteadores reais usando containers Docker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Implementar RIP, OSPF e um algoritmo próprio no mesmo ambiente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Analisar as decisões de caminho de cada abordagem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98079" y="1051560"/>
            <a:ext cx="4389120" cy="2286000"/>
          </a:xfrm>
          <a:prstGeom prst="rect">
            <a:avLst/>
          </a:prstGeom>
          <a:solidFill>
            <a:srgbClr val="FFFFFF"/>
          </a:solidFill>
          <a:ln w="15240">
            <a:solidFill>
              <a:srgbClr val="2E4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635239" y="1161288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A234E"/>
                </a:solidFill>
              </a:rPr>
              <a:t>Ferramentas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Docker Desktop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FRRouting (FRR) — daemon de roteamento open-source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Python 3 — algoritmo próprio e geração de configs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1A234E"/>
                </a:solidFill>
              </a:rPr>
              <a:t>Shell script (aplicar.sh) — orquestração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47472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E4B9E"/>
                </a:solidFill>
              </a:rPr>
              <a:t>Cada container Docker representa um roteador físico com permissões de rede reais (NET_ADMIN, ip_forward), executando o mesmo stack de roteamento usado em produção.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Topologia da Rede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51560"/>
            <a:ext cx="6217920" cy="2560320"/>
          </a:xfrm>
          <a:prstGeom prst="rect">
            <a:avLst/>
          </a:prstGeom>
          <a:solidFill>
            <a:srgbClr val="1E1E2E"/>
          </a:solidFill>
          <a:ln w="12700">
            <a:solidFill>
              <a:srgbClr val="2E4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66928" y="1143000"/>
            <a:ext cx="6035040" cy="2423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FF3E"/>
                </a:solidFill>
                <a:latin typeface="Courier New"/>
              </a:rPr>
              <a:t>          R1 ──[192.168.5.0/29]── R2
         / │                       │ \
  [.9]  /  └──[192.100.1.0/29]─R3 │  \ [192.100.2.0/29]
       /            │              │   \
      R5    [192.168.7.0/29]  [.6] │    R5
       \            │              │   /
  [.8]  \          R4─────[.8]────R5  /
         \                           /
          └──[192.168.9.0/29]───────┘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858000" y="1051560"/>
          <a:ext cx="5029200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Enlace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Rede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Tipo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R1 –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192.168.5.0/29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Anel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R2 – R3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192.168.6.0/29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Anel principal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R3 – 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192.168.7.0/29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Anel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R4 – R5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192.168.8.0/29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Anel principal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R5 – 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192.168.9.0/29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Anel principal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R1 – R3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192.100.1.0/29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★ Redundância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R5 – 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192.100.2.0/29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★ Redundância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57200" y="3749039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2E4B9E"/>
                </a:solidFill>
              </a:rPr>
              <a:t>Os dois links de redundância (R1-R3 e R5-R2) são o elemento que diferencia as decisões de roteamento entre os três protocolos.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984AB36-1E74-4D25-7F65-6167FCDCAECC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Infraestrutura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710946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2926080" cy="5120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10972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dirty="0" err="1">
                <a:solidFill>
                  <a:srgbClr val="FFFFFF"/>
                </a:solidFill>
              </a:rPr>
              <a:t>Dockerfile</a:t>
            </a:r>
            <a:endParaRPr sz="1300" b="1" i="0" dirty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83280" y="1051560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20440" y="10972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 err="1">
                <a:solidFill>
                  <a:srgbClr val="1A234E"/>
                </a:solidFill>
              </a:rPr>
              <a:t>Imagem</a:t>
            </a:r>
            <a:r>
              <a:rPr sz="1300" b="0" i="0" dirty="0">
                <a:solidFill>
                  <a:srgbClr val="1A234E"/>
                </a:solidFill>
              </a:rPr>
              <a:t> Debian + FRR + iproute2 + ping + traceroute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1645920"/>
            <a:ext cx="2926080" cy="5120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16916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docker-compose.yaml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383280" y="1645920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20440" y="16916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5 serviços com IPs fixos, permissões NET_ADMIN e ip_forward=1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2240280"/>
            <a:ext cx="2926080" cy="5120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22860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aplicar.sh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2240280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520440" y="2286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234E"/>
                </a:solidFill>
              </a:rPr>
              <a:t>Copia daemons + </a:t>
            </a:r>
            <a:r>
              <a:rPr sz="1300" b="0" i="0" dirty="0" err="1">
                <a:solidFill>
                  <a:srgbClr val="1A234E"/>
                </a:solidFill>
              </a:rPr>
              <a:t>frr.conf</a:t>
            </a:r>
            <a:r>
              <a:rPr sz="1300" b="0" i="0" dirty="0">
                <a:solidFill>
                  <a:srgbClr val="1A234E"/>
                </a:solidFill>
              </a:rPr>
              <a:t> para </a:t>
            </a:r>
            <a:r>
              <a:rPr sz="1300" b="0" i="0" dirty="0" err="1">
                <a:solidFill>
                  <a:srgbClr val="1A234E"/>
                </a:solidFill>
              </a:rPr>
              <a:t>cada</a:t>
            </a:r>
            <a:r>
              <a:rPr sz="1300" b="0" i="0" dirty="0">
                <a:solidFill>
                  <a:srgbClr val="1A234E"/>
                </a:solidFill>
              </a:rPr>
              <a:t> container e </a:t>
            </a:r>
            <a:r>
              <a:rPr sz="1300" b="0" i="0" dirty="0" err="1">
                <a:solidFill>
                  <a:srgbClr val="1A234E"/>
                </a:solidFill>
              </a:rPr>
              <a:t>reinicia</a:t>
            </a:r>
            <a:r>
              <a:rPr sz="1300" b="0" i="0" dirty="0">
                <a:solidFill>
                  <a:srgbClr val="1A234E"/>
                </a:solidFill>
              </a:rPr>
              <a:t> o FRR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34640"/>
            <a:ext cx="2926080" cy="5120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28803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configs/rip/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383280" y="2834640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520440" y="2880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frr.conf com router rip para cada roteador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3429000"/>
            <a:ext cx="2926080" cy="5120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34747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configs/ospf/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83280" y="3429000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520440" y="34747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frr.conf com router ospf e router-id único por roteador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023360"/>
            <a:ext cx="2926080" cy="512064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02920" y="40690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configs/algoritmo_proprio/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383280" y="4023360"/>
            <a:ext cx="8412480" cy="5120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20440" y="4069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Python gera frr.conf com rotas estáticas via Dijkstra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074920"/>
            <a:ext cx="11430000" cy="868680"/>
          </a:xfrm>
          <a:prstGeom prst="rect">
            <a:avLst/>
          </a:prstGeom>
          <a:solidFill>
            <a:srgbClr val="1E1E2E"/>
          </a:solidFill>
          <a:ln w="12700">
            <a:solidFill>
              <a:srgbClr val="2E4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66928" y="516636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3E"/>
                </a:solidFill>
                <a:latin typeface="Courier New"/>
              </a:rPr>
              <a:t>./aplicar.sh rip          # aplica RIP em todos os roteadores
./aplicar.sh ospf         # aplica OSPF
./aplicar.sh algoritmo_proprio   # gera configs + aplica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BF73703-E60E-5011-B4CF-1D5A48A95FC5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RIP — Routing Information Protocol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30352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161288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Como funciona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Cada roteador anuncia suas redes aos vizinhos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Métrica = número de saltos (máx. 15)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Atualização periódica a cada 30 segundos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DA = 120  |  Daemon: ripd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51560"/>
            <a:ext cx="594360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2E4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3328" y="1143000"/>
            <a:ext cx="576072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3E"/>
                </a:solidFill>
                <a:latin typeface="Courier New"/>
              </a:rPr>
              <a:t>router rip
 network 192.168.5.0/29
 network 192.168.9.0/29
 network 192.100.1.0/29
 redistribute connected
 version 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6858000" cy="1828800"/>
          </a:xfrm>
          <a:prstGeom prst="rect">
            <a:avLst/>
          </a:prstGeom>
          <a:solidFill>
            <a:srgbClr val="FDFDF0"/>
          </a:solidFill>
          <a:ln w="1524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8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4E"/>
                </a:solidFill>
              </a:rPr>
              <a:t>Tabela de rotas — R1 (output real)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R&gt;* 192.168.6.0/29 [120/2] via 192.168.5.3   ← foi por R2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R&gt;* 192.168.7.0/29 [120/2] via 192.100.1.3   ← foi por R3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R&gt;* 192.168.8.0/29 [120/2] via 192.168.9.3   ← foi por R5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R4→R1-R2:  [120/3]  ← 3 saltos  (maior distância)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200400"/>
            <a:ext cx="43891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39" y="3310128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Características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Convergência: 30–90 segundos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Links rápidos ignorados se não reduzem saltos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Simples de configurar e entender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3B37027-88A0-AE28-4098-0FA7386F2ABB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OSPF — Open Shortest Path First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5303520" cy="2011680"/>
          </a:xfrm>
          <a:prstGeom prst="rect">
            <a:avLst/>
          </a:prstGeom>
          <a:solidFill>
            <a:srgbClr val="FFFFFF"/>
          </a:solidFill>
          <a:ln w="1524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1161288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Como funciona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Cada roteador constrói mapa completo da rede (LSA)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Roda Dijkstra localmente para calcular melhores rotas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Convergência rápida (~5-15s) via troca de LSAs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DA = 110  |  Daemon: ospfd  |  Router-ID único por roteador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1051560"/>
            <a:ext cx="5943600" cy="2011680"/>
          </a:xfrm>
          <a:prstGeom prst="rect">
            <a:avLst/>
          </a:prstGeom>
          <a:solidFill>
            <a:srgbClr val="1E1E2E"/>
          </a:solidFill>
          <a:ln w="12700">
            <a:solidFill>
              <a:srgbClr val="2E4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053328" y="1143000"/>
            <a:ext cx="5760720" cy="1874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3E"/>
                </a:solidFill>
                <a:latin typeface="Courier New"/>
              </a:rPr>
              <a:t>router ospf
 ospf router-id 1.1.1.1
 network 192.100.1.0/29 area 0
 network 192.168.5.0/29 area 0
 network 192.168.9.0/29 area 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200400"/>
            <a:ext cx="6858000" cy="1828800"/>
          </a:xfrm>
          <a:prstGeom prst="rect">
            <a:avLst/>
          </a:prstGeom>
          <a:solidFill>
            <a:srgbClr val="FDFDF0"/>
          </a:solidFill>
          <a:ln w="1524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" y="3310128"/>
            <a:ext cx="65836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A234E"/>
                </a:solidFill>
              </a:rPr>
              <a:t>Tabela de rotas — R5 (output real)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O&gt;* 192.100.1.0/29 [110/20] via 192.168.9.2  ← remota, custo 20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O&gt;* 192.168.5.0/29 [110/20] via 192.168.9.2  ← 2 hops × 10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O   192.100.2.0/29 [110/10] is directly connected  ← perde para C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A234E"/>
                </a:solidFill>
              </a:rPr>
              <a:t>C&gt;* 192.100.2.0/29 is directly connected  ← C (DA=0) ganha de O (DA=110)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79" y="3200400"/>
            <a:ext cx="4389120" cy="1828800"/>
          </a:xfrm>
          <a:prstGeom prst="rect">
            <a:avLst/>
          </a:prstGeom>
          <a:solidFill>
            <a:srgbClr val="FFFFFF"/>
          </a:solidFill>
          <a:ln w="1524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39" y="3310128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Características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Com custo padrão = comportamento similar ao RIP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Potencial real: customizar custo por interface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Rotas diretas aparecem duplicadas: O + C&gt;*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1CCE5D-5789-339B-2F97-31E9DC6BBD34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Algoritmo Próprio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1051560"/>
            <a:ext cx="11430000" cy="685800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48640" y="109728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</a:rPr>
              <a:t>Custo por enlace = 10 + latência_ms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9333523"/>
              </p:ext>
            </p:extLst>
          </p:nvPr>
        </p:nvGraphicFramePr>
        <p:xfrm>
          <a:off x="457199" y="1874519"/>
          <a:ext cx="3716767" cy="2670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67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2211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375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Enlace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Latência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Custo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R1–R2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R2–R3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8 ms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18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R3–R4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2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R4–R5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2 ms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12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R5–R1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234E"/>
                          </a:solidFill>
                        </a:rPr>
                        <a:t>9 </a:t>
                      </a:r>
                      <a:r>
                        <a:rPr sz="1300" b="0" dirty="0" err="1">
                          <a:solidFill>
                            <a:srgbClr val="1A234E"/>
                          </a:solidFill>
                        </a:rPr>
                        <a:t>ms</a:t>
                      </a:r>
                      <a:endParaRPr sz="1300" b="0" dirty="0">
                        <a:solidFill>
                          <a:srgbClr val="1A234E"/>
                        </a:solidFill>
                      </a:endParaRP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R1–R3 ★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3 ms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3756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R5–R2 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3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234E"/>
                          </a:solidFill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4389120" y="1874519"/>
            <a:ext cx="7132320" cy="2743200"/>
          </a:xfrm>
          <a:prstGeom prst="rect">
            <a:avLst/>
          </a:prstGeom>
          <a:solidFill>
            <a:srgbClr val="FFFFFF"/>
          </a:solidFill>
          <a:ln w="15240">
            <a:solidFill>
              <a:srgbClr val="5B8D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984247"/>
            <a:ext cx="68580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A234E"/>
                </a:solidFill>
              </a:rPr>
              <a:t>Implementação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Script Python modela a topologia completa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Dijkstra calcula menor custo entre todos os pares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Gera frr.conf com rotas estáticas para R1–R5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Não requer daemon de roteamento — só zebra + staticd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1A234E"/>
                </a:solidFill>
              </a:rPr>
              <a:t>Instalação imediata, sem convergência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709160"/>
            <a:ext cx="11430000" cy="777240"/>
          </a:xfrm>
          <a:prstGeom prst="rect">
            <a:avLst/>
          </a:prstGeom>
          <a:solidFill>
            <a:srgbClr val="1E1E2E"/>
          </a:solidFill>
          <a:ln w="12700">
            <a:solidFill>
              <a:srgbClr val="2E4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66928" y="4800600"/>
            <a:ext cx="11247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3E"/>
                </a:solidFill>
                <a:latin typeface="Courier New"/>
              </a:rPr>
              <a:t>S&gt;* 192.168.6.0/29 [1/0] via 192.100.1.3   ← R1 foi por R3 (3ms)
S&gt;* 192.168.5.0/29 [1/0] via 192.100.2.3   ← R5 foi por R2 (3ms)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9086B33-028B-5902-249B-BED794FE838F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Comparativo — Decisões de Rota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4300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Origem → Destino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RIP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OSPF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Algoritmo Próprio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R1 → rede R2-R3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R2  (10ms)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R2  (custo 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★ via R3  (3ms)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R3 → rede R1-R2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R2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R2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★ via R1  (3ms)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R5 → rede R1-R2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R1  (9ms)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R1  (custo 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★ via R2  (3ms)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 dirty="0">
                          <a:solidFill>
                            <a:srgbClr val="1A234E"/>
                          </a:solidFill>
                        </a:rPr>
                        <a:t>R4 → rede R1-R2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R3  [3 saltos]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via R3  [custo 30]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 dirty="0">
                          <a:solidFill>
                            <a:srgbClr val="1A234E"/>
                          </a:solidFill>
                        </a:rPr>
                        <a:t>via R3  [</a:t>
                      </a:r>
                      <a:r>
                        <a:rPr sz="1300" b="0" dirty="0" err="1">
                          <a:solidFill>
                            <a:srgbClr val="1A234E"/>
                          </a:solidFill>
                        </a:rPr>
                        <a:t>custo</a:t>
                      </a:r>
                      <a:r>
                        <a:rPr sz="1300" b="0" dirty="0">
                          <a:solidFill>
                            <a:srgbClr val="1A234E"/>
                          </a:solidFill>
                        </a:rPr>
                        <a:t> 25]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57200" y="3063240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Uso dos enlaces de redundância (R1-R3 e R5-R2):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57200" y="3429000"/>
          <a:ext cx="11430000" cy="1536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Protocolo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Usa links rápidos?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Critério de decisão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RIP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Parcialmente — por coincidência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Só quando reduz o nº de saltos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OSPF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Parcialmente — custo igual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Custo padrão 10 = igual a todos os enlaces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Próprio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✔ Sistematicamente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Latência menor = custo menor = rota preferida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24B0F1B-BE4D-CADB-5330-BFB0F0870DBB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Comparativo — Características Técnicas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57200" y="1051560"/>
          <a:ext cx="11430000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Critério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RIP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OSPF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Algoritmo Próprio</a:t>
                      </a:r>
                    </a:p>
                  </a:txBody>
                  <a:tcPr>
                    <a:solidFill>
                      <a:srgbClr val="1A234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Código na tabela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Distância administrativa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120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110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1  (maior prioridade)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Métrica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Saltos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Custo (padrão 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(saltos×10) + latência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Convergência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30–90 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~5–15 s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Imediata (sem protocolo)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Reage a falhas?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Sim (lento)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Sim (rápido)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Não (rotas fixas)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Troca mensagens?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Sim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Sim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Não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Complexidade config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Baixa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Média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Python + Dijkstra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0">
                          <a:solidFill>
                            <a:srgbClr val="1A234E"/>
                          </a:solidFill>
                        </a:rPr>
                        <a:t>Duplica rotas diretas?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Sim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Sim (O + C)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1A234E"/>
                          </a:solidFill>
                        </a:rPr>
                        <a:t>Não</a:t>
                      </a:r>
                    </a:p>
                  </a:txBody>
                  <a:tcPr>
                    <a:solidFill>
                      <a:srgbClr val="E8EF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77CF89EA-D617-1B28-B198-B8B33193079A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6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A23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"/>
            <a:ext cx="11430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1A234E"/>
                </a:solidFill>
              </a:rPr>
              <a:t>Conclusão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914400"/>
            <a:ext cx="11338560" cy="41148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457200" y="1097280"/>
            <a:ext cx="109728" cy="100584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94360" y="109728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14300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RIP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153619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Simples e funcional, mas cego à qualidade dos enlaces. Convergência lenta. Adequado para redes pequenas e homogêneas.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194560"/>
            <a:ext cx="109728" cy="1005840"/>
          </a:xfrm>
          <a:prstGeom prst="rect">
            <a:avLst/>
          </a:prstGeom>
          <a:solidFill>
            <a:srgbClr val="5B8D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94360" y="219456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224028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OSPF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263347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Mais robusto e de convergência rápida. Com custos padrão se comporta como RIP — seu potencial real exige customização de custo por interface.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291840"/>
            <a:ext cx="109728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594360" y="3291840"/>
            <a:ext cx="11155680" cy="10058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333756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234E"/>
                </a:solidFill>
              </a:rPr>
              <a:t>Algoritmo Próprio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373075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234E"/>
                </a:solidFill>
              </a:rPr>
              <a:t>Único que explorou sistematicamente os enlaces rápidos de redundância. Instalação imediata. Limitação: não reage dinamicamente a falhas de enlace.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434840"/>
            <a:ext cx="11430000" cy="914400"/>
          </a:xfrm>
          <a:prstGeom prst="rect">
            <a:avLst/>
          </a:prstGeom>
          <a:solidFill>
            <a:srgbClr val="2E4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4480560"/>
            <a:ext cx="11155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 dirty="0">
                <a:solidFill>
                  <a:srgbClr val="FFFFFF"/>
                </a:solidFill>
              </a:rPr>
              <a:t>A </a:t>
            </a:r>
            <a:r>
              <a:rPr sz="1500" b="1" i="0" dirty="0" err="1">
                <a:solidFill>
                  <a:srgbClr val="FFFFFF"/>
                </a:solidFill>
              </a:rPr>
              <a:t>escolha</a:t>
            </a:r>
            <a:r>
              <a:rPr sz="1500" b="1" i="0" dirty="0">
                <a:solidFill>
                  <a:srgbClr val="FFFFFF"/>
                </a:solidFill>
              </a:rPr>
              <a:t> do </a:t>
            </a:r>
            <a:r>
              <a:rPr sz="1500" b="1" i="0" dirty="0" err="1">
                <a:solidFill>
                  <a:srgbClr val="FFFFFF"/>
                </a:solidFill>
              </a:rPr>
              <a:t>protocolo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não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é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apenas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técnica</a:t>
            </a:r>
            <a:r>
              <a:rPr sz="1500" b="1" i="0" dirty="0">
                <a:solidFill>
                  <a:srgbClr val="FFFFFF"/>
                </a:solidFill>
              </a:rPr>
              <a:t> — </a:t>
            </a:r>
            <a:r>
              <a:rPr sz="1500" b="1" i="0" dirty="0" err="1">
                <a:solidFill>
                  <a:srgbClr val="FFFFFF"/>
                </a:solidFill>
              </a:rPr>
              <a:t>é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uma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decisão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sobre</a:t>
            </a:r>
            <a:r>
              <a:rPr sz="1500" b="1" i="0" dirty="0">
                <a:solidFill>
                  <a:srgbClr val="FFFFFF"/>
                </a:solidFill>
              </a:rPr>
              <a:t> o </a:t>
            </a:r>
            <a:r>
              <a:rPr sz="1500" b="1" i="0" dirty="0" err="1">
                <a:solidFill>
                  <a:srgbClr val="FFFFFF"/>
                </a:solidFill>
              </a:rPr>
              <a:t>que</a:t>
            </a:r>
            <a:r>
              <a:rPr sz="1500" b="1" i="0" dirty="0">
                <a:solidFill>
                  <a:srgbClr val="FFFFFF"/>
                </a:solidFill>
              </a:rPr>
              <a:t> a rede </a:t>
            </a:r>
            <a:r>
              <a:rPr sz="1500" b="1" i="0" dirty="0" err="1">
                <a:solidFill>
                  <a:srgbClr val="FFFFFF"/>
                </a:solidFill>
              </a:rPr>
              <a:t>deve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otimizar</a:t>
            </a:r>
            <a:r>
              <a:rPr sz="1500" b="1" i="0" dirty="0">
                <a:solidFill>
                  <a:srgbClr val="FFFFFF"/>
                </a:solidFill>
              </a:rPr>
              <a:t>: </a:t>
            </a:r>
            <a:r>
              <a:rPr sz="1500" b="1" i="0" dirty="0" err="1">
                <a:solidFill>
                  <a:srgbClr val="FFFFFF"/>
                </a:solidFill>
              </a:rPr>
              <a:t>simplicidade</a:t>
            </a:r>
            <a:r>
              <a:rPr sz="1500" b="1" i="0" dirty="0">
                <a:solidFill>
                  <a:srgbClr val="FFFFFF"/>
                </a:solidFill>
              </a:rPr>
              <a:t>, </a:t>
            </a:r>
            <a:r>
              <a:rPr sz="1500" b="1" i="0" dirty="0" err="1">
                <a:solidFill>
                  <a:srgbClr val="FFFFFF"/>
                </a:solidFill>
              </a:rPr>
              <a:t>velocidade</a:t>
            </a:r>
            <a:r>
              <a:rPr sz="1500" b="1" i="0" dirty="0">
                <a:solidFill>
                  <a:srgbClr val="FFFFFF"/>
                </a:solidFill>
              </a:rPr>
              <a:t> de </a:t>
            </a:r>
            <a:r>
              <a:rPr sz="1500" b="1" i="0" dirty="0" err="1">
                <a:solidFill>
                  <a:srgbClr val="FFFFFF"/>
                </a:solidFill>
              </a:rPr>
              <a:t>convergência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ou</a:t>
            </a:r>
            <a:r>
              <a:rPr sz="1500" b="1" i="0" dirty="0">
                <a:solidFill>
                  <a:srgbClr val="FFFFFF"/>
                </a:solidFill>
              </a:rPr>
              <a:t> </a:t>
            </a:r>
            <a:r>
              <a:rPr sz="1500" b="1" i="0" dirty="0" err="1">
                <a:solidFill>
                  <a:srgbClr val="FFFFFF"/>
                </a:solidFill>
              </a:rPr>
              <a:t>qualidade</a:t>
            </a:r>
            <a:r>
              <a:rPr sz="1500" b="1" i="0" dirty="0">
                <a:solidFill>
                  <a:srgbClr val="FFFFFF"/>
                </a:solidFill>
              </a:rPr>
              <a:t> do </a:t>
            </a:r>
            <a:r>
              <a:rPr sz="1500" b="1" i="0" dirty="0" err="1">
                <a:solidFill>
                  <a:srgbClr val="FFFFFF"/>
                </a:solidFill>
              </a:rPr>
              <a:t>caminho</a:t>
            </a:r>
            <a:r>
              <a:rPr sz="1500" b="1" i="0" dirty="0">
                <a:solidFill>
                  <a:srgbClr val="FFFFFF"/>
                </a:solidFill>
              </a:rPr>
              <a:t>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1CACA5B-9E0E-3DC0-D14C-A618BD4348D6}"/>
              </a:ext>
            </a:extLst>
          </p:cNvPr>
          <p:cNvSpPr txBox="1"/>
          <p:nvPr/>
        </p:nvSpPr>
        <p:spPr>
          <a:xfrm>
            <a:off x="274320" y="6473952"/>
            <a:ext cx="91440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 err="1">
                <a:solidFill>
                  <a:srgbClr val="AABBDD"/>
                </a:solidFill>
              </a:rPr>
              <a:t>Trabalho</a:t>
            </a:r>
            <a:r>
              <a:rPr lang="pt-BR" sz="900" b="0" i="0" dirty="0">
                <a:solidFill>
                  <a:srgbClr val="AABBDD"/>
                </a:solidFill>
              </a:rPr>
              <a:t>GA_</a:t>
            </a:r>
            <a:r>
              <a:rPr sz="900" b="0" i="0" dirty="0">
                <a:solidFill>
                  <a:srgbClr val="AABBDD"/>
                </a:solidFill>
              </a:rPr>
              <a:t>2026  |  </a:t>
            </a:r>
            <a:r>
              <a:rPr sz="900" b="0" i="0" dirty="0" err="1">
                <a:solidFill>
                  <a:srgbClr val="AABBDD"/>
                </a:solidFill>
              </a:rPr>
              <a:t>Roteamento</a:t>
            </a:r>
            <a:r>
              <a:rPr sz="900" b="0" i="0" dirty="0">
                <a:solidFill>
                  <a:srgbClr val="AABBDD"/>
                </a:solidFill>
              </a:rPr>
              <a:t> </a:t>
            </a:r>
            <a:r>
              <a:rPr sz="900" b="0" i="0" dirty="0" err="1">
                <a:solidFill>
                  <a:srgbClr val="AABBDD"/>
                </a:solidFill>
              </a:rPr>
              <a:t>Dinâmico</a:t>
            </a:r>
            <a:r>
              <a:rPr sz="900" b="0" i="0" dirty="0">
                <a:solidFill>
                  <a:srgbClr val="AABBDD"/>
                </a:solidFill>
              </a:rPr>
              <a:t> com Containers Docker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1260</Words>
  <Application>Microsoft Macintosh PowerPoint</Application>
  <PresentationFormat>Custom</PresentationFormat>
  <Paragraphs>211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Graveto, Vasco</cp:lastModifiedBy>
  <cp:revision>3</cp:revision>
  <dcterms:created xsi:type="dcterms:W3CDTF">2013-01-27T09:14:16Z</dcterms:created>
  <dcterms:modified xsi:type="dcterms:W3CDTF">2026-09-30T18:37:45Z</dcterms:modified>
  <cp:category/>
</cp:coreProperties>
</file>